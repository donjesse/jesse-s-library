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1"/>
  </p:notesMasterIdLst>
  <p:sldIdLst>
    <p:sldId id="256" r:id="rId2"/>
    <p:sldId id="258" r:id="rId3"/>
    <p:sldId id="268" r:id="rId4"/>
    <p:sldId id="257" r:id="rId5"/>
    <p:sldId id="303" r:id="rId6"/>
    <p:sldId id="304" r:id="rId7"/>
    <p:sldId id="312" r:id="rId8"/>
    <p:sldId id="305" r:id="rId9"/>
    <p:sldId id="306" r:id="rId10"/>
    <p:sldId id="284" r:id="rId11"/>
    <p:sldId id="260" r:id="rId12"/>
    <p:sldId id="261" r:id="rId13"/>
    <p:sldId id="307" r:id="rId14"/>
    <p:sldId id="262" r:id="rId15"/>
    <p:sldId id="263" r:id="rId16"/>
    <p:sldId id="264" r:id="rId17"/>
    <p:sldId id="265" r:id="rId18"/>
    <p:sldId id="266" r:id="rId19"/>
    <p:sldId id="270" r:id="rId20"/>
    <p:sldId id="271" r:id="rId21"/>
    <p:sldId id="302" r:id="rId22"/>
    <p:sldId id="272" r:id="rId23"/>
    <p:sldId id="273" r:id="rId24"/>
    <p:sldId id="275" r:id="rId25"/>
    <p:sldId id="286" r:id="rId26"/>
    <p:sldId id="313" r:id="rId27"/>
    <p:sldId id="314" r:id="rId28"/>
    <p:sldId id="274" r:id="rId29"/>
    <p:sldId id="301" r:id="rId30"/>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5000"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sorterViewPr>
    <p:cViewPr varScale="1">
      <p:scale>
        <a:sx n="100" d="100"/>
        <a:sy n="100" d="100"/>
      </p:scale>
      <p:origin x="0" y="-1130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notesMaster" Target="notesMasters/notesMaster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475" cy="46672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6"/>
          </a:xfrm>
          <a:prstGeom prst="rect">
            <a:avLst/>
          </a:prstGeom>
        </p:spPr>
        <p:txBody>
          <a:bodyPr vert="horz" lIns="91440" tIns="45720" rIns="91440" bIns="45720" rtlCol="0"/>
          <a:lstStyle>
            <a:lvl1pPr algn="r">
              <a:defRPr sz="1200"/>
            </a:lvl1pPr>
          </a:lstStyle>
          <a:p>
            <a:fld id="{EB71B8FB-7D3B-4DE8-B810-728C749CB8CF}" type="datetimeFigureOut">
              <a:rPr lang="en-US" smtClean="0"/>
              <a:t>6/3/2026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6"/>
            <a:ext cx="5607050" cy="366077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29676"/>
            <a:ext cx="3038475" cy="46672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6"/>
            <a:ext cx="3038475" cy="466726"/>
          </a:xfrm>
          <a:prstGeom prst="rect">
            <a:avLst/>
          </a:prstGeom>
        </p:spPr>
        <p:txBody>
          <a:bodyPr vert="horz" lIns="91440" tIns="45720" rIns="91440" bIns="45720" rtlCol="0" anchor="b"/>
          <a:lstStyle>
            <a:lvl1pPr algn="r">
              <a:defRPr sz="1200"/>
            </a:lvl1pPr>
          </a:lstStyle>
          <a:p>
            <a:fld id="{7B563306-2259-4BE9-A814-4AE292E28B00}" type="slidenum">
              <a:rPr lang="en-US" smtClean="0"/>
              <a:t>‹#›</a:t>
            </a:fld>
            <a:endParaRPr lang="en-US"/>
          </a:p>
        </p:txBody>
      </p:sp>
    </p:spTree>
    <p:extLst>
      <p:ext uri="{BB962C8B-B14F-4D97-AF65-F5344CB8AC3E}">
        <p14:creationId xmlns:p14="http://schemas.microsoft.com/office/powerpoint/2010/main" val="7088576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1</a:t>
            </a:fld>
            <a:endParaRPr lang="en-US"/>
          </a:p>
        </p:txBody>
      </p:sp>
    </p:spTree>
    <p:extLst>
      <p:ext uri="{BB962C8B-B14F-4D97-AF65-F5344CB8AC3E}">
        <p14:creationId xmlns:p14="http://schemas.microsoft.com/office/powerpoint/2010/main" val="3476264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2</a:t>
            </a:fld>
            <a:endParaRPr lang="en-US"/>
          </a:p>
        </p:txBody>
      </p:sp>
    </p:spTree>
    <p:extLst>
      <p:ext uri="{BB962C8B-B14F-4D97-AF65-F5344CB8AC3E}">
        <p14:creationId xmlns:p14="http://schemas.microsoft.com/office/powerpoint/2010/main" val="3054578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3</a:t>
            </a:fld>
            <a:endParaRPr lang="en-US"/>
          </a:p>
        </p:txBody>
      </p:sp>
    </p:spTree>
    <p:extLst>
      <p:ext uri="{BB962C8B-B14F-4D97-AF65-F5344CB8AC3E}">
        <p14:creationId xmlns:p14="http://schemas.microsoft.com/office/powerpoint/2010/main" val="13425825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4</a:t>
            </a:fld>
            <a:endParaRPr lang="en-US"/>
          </a:p>
        </p:txBody>
      </p:sp>
    </p:spTree>
    <p:extLst>
      <p:ext uri="{BB962C8B-B14F-4D97-AF65-F5344CB8AC3E}">
        <p14:creationId xmlns:p14="http://schemas.microsoft.com/office/powerpoint/2010/main" val="1896340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5</a:t>
            </a:fld>
            <a:endParaRPr lang="en-US"/>
          </a:p>
        </p:txBody>
      </p:sp>
    </p:spTree>
    <p:extLst>
      <p:ext uri="{BB962C8B-B14F-4D97-AF65-F5344CB8AC3E}">
        <p14:creationId xmlns:p14="http://schemas.microsoft.com/office/powerpoint/2010/main" val="12397762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6</a:t>
            </a:fld>
            <a:endParaRPr lang="en-US"/>
          </a:p>
        </p:txBody>
      </p:sp>
    </p:spTree>
    <p:extLst>
      <p:ext uri="{BB962C8B-B14F-4D97-AF65-F5344CB8AC3E}">
        <p14:creationId xmlns:p14="http://schemas.microsoft.com/office/powerpoint/2010/main" val="7609163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7</a:t>
            </a:fld>
            <a:endParaRPr lang="en-US"/>
          </a:p>
        </p:txBody>
      </p:sp>
    </p:spTree>
    <p:extLst>
      <p:ext uri="{BB962C8B-B14F-4D97-AF65-F5344CB8AC3E}">
        <p14:creationId xmlns:p14="http://schemas.microsoft.com/office/powerpoint/2010/main" val="26786986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8</a:t>
            </a:fld>
            <a:endParaRPr lang="en-US"/>
          </a:p>
        </p:txBody>
      </p:sp>
    </p:spTree>
    <p:extLst>
      <p:ext uri="{BB962C8B-B14F-4D97-AF65-F5344CB8AC3E}">
        <p14:creationId xmlns:p14="http://schemas.microsoft.com/office/powerpoint/2010/main" val="22090853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9</a:t>
            </a:fld>
            <a:endParaRPr lang="en-US"/>
          </a:p>
        </p:txBody>
      </p:sp>
    </p:spTree>
    <p:extLst>
      <p:ext uri="{BB962C8B-B14F-4D97-AF65-F5344CB8AC3E}">
        <p14:creationId xmlns:p14="http://schemas.microsoft.com/office/powerpoint/2010/main" val="2240711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10</a:t>
            </a:fld>
            <a:endParaRPr lang="en-US"/>
          </a:p>
        </p:txBody>
      </p:sp>
    </p:spTree>
    <p:extLst>
      <p:ext uri="{BB962C8B-B14F-4D97-AF65-F5344CB8AC3E}">
        <p14:creationId xmlns:p14="http://schemas.microsoft.com/office/powerpoint/2010/main" val="29969880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11</a:t>
            </a:fld>
            <a:endParaRPr lang="en-US"/>
          </a:p>
        </p:txBody>
      </p:sp>
    </p:spTree>
    <p:extLst>
      <p:ext uri="{BB962C8B-B14F-4D97-AF65-F5344CB8AC3E}">
        <p14:creationId xmlns:p14="http://schemas.microsoft.com/office/powerpoint/2010/main" val="38612252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12</a:t>
            </a:fld>
            <a:endParaRPr lang="en-US"/>
          </a:p>
        </p:txBody>
      </p:sp>
    </p:spTree>
    <p:extLst>
      <p:ext uri="{BB962C8B-B14F-4D97-AF65-F5344CB8AC3E}">
        <p14:creationId xmlns:p14="http://schemas.microsoft.com/office/powerpoint/2010/main" val="41037268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13</a:t>
            </a:fld>
            <a:endParaRPr lang="en-US"/>
          </a:p>
        </p:txBody>
      </p:sp>
    </p:spTree>
    <p:extLst>
      <p:ext uri="{BB962C8B-B14F-4D97-AF65-F5344CB8AC3E}">
        <p14:creationId xmlns:p14="http://schemas.microsoft.com/office/powerpoint/2010/main" val="21093413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14</a:t>
            </a:fld>
            <a:endParaRPr lang="en-US"/>
          </a:p>
        </p:txBody>
      </p:sp>
    </p:spTree>
    <p:extLst>
      <p:ext uri="{BB962C8B-B14F-4D97-AF65-F5344CB8AC3E}">
        <p14:creationId xmlns:p14="http://schemas.microsoft.com/office/powerpoint/2010/main" val="27816703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15</a:t>
            </a:fld>
            <a:endParaRPr lang="en-US"/>
          </a:p>
        </p:txBody>
      </p:sp>
    </p:spTree>
    <p:extLst>
      <p:ext uri="{BB962C8B-B14F-4D97-AF65-F5344CB8AC3E}">
        <p14:creationId xmlns:p14="http://schemas.microsoft.com/office/powerpoint/2010/main" val="24755939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16</a:t>
            </a:fld>
            <a:endParaRPr lang="en-US"/>
          </a:p>
        </p:txBody>
      </p:sp>
    </p:spTree>
    <p:extLst>
      <p:ext uri="{BB962C8B-B14F-4D97-AF65-F5344CB8AC3E}">
        <p14:creationId xmlns:p14="http://schemas.microsoft.com/office/powerpoint/2010/main" val="5021159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17</a:t>
            </a:fld>
            <a:endParaRPr lang="en-US"/>
          </a:p>
        </p:txBody>
      </p:sp>
    </p:spTree>
    <p:extLst>
      <p:ext uri="{BB962C8B-B14F-4D97-AF65-F5344CB8AC3E}">
        <p14:creationId xmlns:p14="http://schemas.microsoft.com/office/powerpoint/2010/main" val="34022185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18</a:t>
            </a:fld>
            <a:endParaRPr lang="en-US"/>
          </a:p>
        </p:txBody>
      </p:sp>
    </p:spTree>
    <p:extLst>
      <p:ext uri="{BB962C8B-B14F-4D97-AF65-F5344CB8AC3E}">
        <p14:creationId xmlns:p14="http://schemas.microsoft.com/office/powerpoint/2010/main" val="32330296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19</a:t>
            </a:fld>
            <a:endParaRPr lang="en-US"/>
          </a:p>
        </p:txBody>
      </p:sp>
    </p:spTree>
    <p:extLst>
      <p:ext uri="{BB962C8B-B14F-4D97-AF65-F5344CB8AC3E}">
        <p14:creationId xmlns:p14="http://schemas.microsoft.com/office/powerpoint/2010/main" val="38214908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20</a:t>
            </a:fld>
            <a:endParaRPr lang="en-US"/>
          </a:p>
        </p:txBody>
      </p:sp>
    </p:spTree>
    <p:extLst>
      <p:ext uri="{BB962C8B-B14F-4D97-AF65-F5344CB8AC3E}">
        <p14:creationId xmlns:p14="http://schemas.microsoft.com/office/powerpoint/2010/main" val="30934526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21</a:t>
            </a:fld>
            <a:endParaRPr lang="en-US"/>
          </a:p>
        </p:txBody>
      </p:sp>
    </p:spTree>
    <p:extLst>
      <p:ext uri="{BB962C8B-B14F-4D97-AF65-F5344CB8AC3E}">
        <p14:creationId xmlns:p14="http://schemas.microsoft.com/office/powerpoint/2010/main" val="31537501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22</a:t>
            </a:fld>
            <a:endParaRPr lang="en-US"/>
          </a:p>
        </p:txBody>
      </p:sp>
    </p:spTree>
    <p:extLst>
      <p:ext uri="{BB962C8B-B14F-4D97-AF65-F5344CB8AC3E}">
        <p14:creationId xmlns:p14="http://schemas.microsoft.com/office/powerpoint/2010/main" val="20635598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23</a:t>
            </a:fld>
            <a:endParaRPr lang="en-US"/>
          </a:p>
        </p:txBody>
      </p:sp>
    </p:spTree>
    <p:extLst>
      <p:ext uri="{BB962C8B-B14F-4D97-AF65-F5344CB8AC3E}">
        <p14:creationId xmlns:p14="http://schemas.microsoft.com/office/powerpoint/2010/main" val="39273919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24</a:t>
            </a:fld>
            <a:endParaRPr lang="en-US"/>
          </a:p>
        </p:txBody>
      </p:sp>
    </p:spTree>
    <p:extLst>
      <p:ext uri="{BB962C8B-B14F-4D97-AF65-F5344CB8AC3E}">
        <p14:creationId xmlns:p14="http://schemas.microsoft.com/office/powerpoint/2010/main" val="14599812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25</a:t>
            </a:fld>
            <a:endParaRPr lang="en-US"/>
          </a:p>
        </p:txBody>
      </p:sp>
    </p:spTree>
    <p:extLst>
      <p:ext uri="{BB962C8B-B14F-4D97-AF65-F5344CB8AC3E}">
        <p14:creationId xmlns:p14="http://schemas.microsoft.com/office/powerpoint/2010/main" val="6047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26</a:t>
            </a:fld>
            <a:endParaRPr lang="en-US"/>
          </a:p>
        </p:txBody>
      </p:sp>
    </p:spTree>
    <p:extLst>
      <p:ext uri="{BB962C8B-B14F-4D97-AF65-F5344CB8AC3E}">
        <p14:creationId xmlns:p14="http://schemas.microsoft.com/office/powerpoint/2010/main" val="34375651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27</a:t>
            </a:fld>
            <a:endParaRPr lang="en-US"/>
          </a:p>
        </p:txBody>
      </p:sp>
    </p:spTree>
    <p:extLst>
      <p:ext uri="{BB962C8B-B14F-4D97-AF65-F5344CB8AC3E}">
        <p14:creationId xmlns:p14="http://schemas.microsoft.com/office/powerpoint/2010/main" val="36130389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28</a:t>
            </a:fld>
            <a:endParaRPr lang="en-US"/>
          </a:p>
        </p:txBody>
      </p:sp>
    </p:spTree>
    <p:extLst>
      <p:ext uri="{BB962C8B-B14F-4D97-AF65-F5344CB8AC3E}">
        <p14:creationId xmlns:p14="http://schemas.microsoft.com/office/powerpoint/2010/main" val="40809187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B563306-2259-4BE9-A814-4AE292E28B00}" type="slidenum">
              <a:rPr lang="en-US" smtClean="0"/>
              <a:t>29</a:t>
            </a:fld>
            <a:endParaRPr lang="en-US"/>
          </a:p>
        </p:txBody>
      </p:sp>
    </p:spTree>
    <p:extLst>
      <p:ext uri="{BB962C8B-B14F-4D97-AF65-F5344CB8AC3E}">
        <p14:creationId xmlns:p14="http://schemas.microsoft.com/office/powerpoint/2010/main" val="3913470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6/3/2026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6/3/2026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6/3/2026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6/3/2026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6/3/2026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6/3/2026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6/3/2026</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6/3/2026</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6/3/2026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6/3/2026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6/3/2026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6/3/2026</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17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800" kern="1200">
          <a:solidFill>
            <a:schemeClr val="tx1">
              <a:lumMod val="75000"/>
              <a:lumOff val="25000"/>
            </a:schemeClr>
          </a:solidFill>
          <a:latin typeface="+mn-lt"/>
          <a:ea typeface="+mn-ea"/>
          <a:cs typeface="+mn-cs"/>
        </a:defRPr>
      </a:lvl2pPr>
      <a:lvl3pPr marL="56705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3pPr>
      <a:lvl4pPr marL="74993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4pPr>
      <a:lvl5pPr marL="932815" indent="-18288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5pPr>
      <a:lvl6pPr marL="109982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6pPr>
      <a:lvl7pPr marL="129984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7pPr>
      <a:lvl8pPr marL="1499870"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8pPr>
      <a:lvl9pPr marL="1699895" indent="-228600" algn="l" defTabSz="914400" rtl="0" eaLnBrk="1" latinLnBrk="0" hangingPunct="1">
        <a:lnSpc>
          <a:spcPct val="90000"/>
        </a:lnSpc>
        <a:spcBef>
          <a:spcPts val="200"/>
        </a:spcBef>
        <a:spcAft>
          <a:spcPts val="400"/>
        </a:spcAft>
        <a:buClr>
          <a:schemeClr val="accent1"/>
        </a:buClr>
        <a:buFont typeface="Calibri" panose="020F0502020204030204"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 /><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 /><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 /><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GB" sz="4000" dirty="0">
                <a:latin typeface="Arial Black" panose="020B0A04020102020204" pitchFamily="34" charset="0"/>
              </a:rPr>
              <a:t>Entrepreneurial  Marketing</a:t>
            </a:r>
            <a:endParaRPr lang="en-US" sz="4000" dirty="0">
              <a:latin typeface="Arial Black" panose="020B0A04020102020204" pitchFamily="34" charset="0"/>
            </a:endParaRPr>
          </a:p>
        </p:txBody>
      </p:sp>
      <p:sp>
        <p:nvSpPr>
          <p:cNvPr id="3" name="Subtitle 2"/>
          <p:cNvSpPr>
            <a:spLocks noGrp="1"/>
          </p:cNvSpPr>
          <p:nvPr>
            <p:ph type="subTitle" idx="1"/>
          </p:nvPr>
        </p:nvSpPr>
        <p:spPr/>
        <p:txBody>
          <a:bodyPr/>
          <a:lstStyle/>
          <a:p>
            <a:r>
              <a:rPr lang="en-GB" dirty="0"/>
              <a:t>By</a:t>
            </a:r>
          </a:p>
          <a:p>
            <a:r>
              <a:rPr lang="en-GB" dirty="0" err="1"/>
              <a:t>Dr.KOLA adekunle</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latin typeface="Arial Black" panose="020B0A04020102020204" pitchFamily="34" charset="0"/>
                <a:cs typeface="Arial Black" panose="020B0A04020102020204" pitchFamily="34" charset="0"/>
              </a:rPr>
              <a:t>Introduction</a:t>
            </a:r>
          </a:p>
        </p:txBody>
      </p:sp>
      <p:sp>
        <p:nvSpPr>
          <p:cNvPr id="3" name="Content Placeholder 2"/>
          <p:cNvSpPr>
            <a:spLocks noGrp="1"/>
          </p:cNvSpPr>
          <p:nvPr>
            <p:ph idx="1"/>
          </p:nvPr>
        </p:nvSpPr>
        <p:spPr/>
        <p:txBody>
          <a:bodyPr>
            <a:noAutofit/>
          </a:bodyPr>
          <a:lstStyle/>
          <a:p>
            <a:pPr>
              <a:lnSpc>
                <a:spcPct val="150000"/>
              </a:lnSpc>
            </a:pPr>
            <a:r>
              <a:rPr lang="en-US" sz="3200" dirty="0">
                <a:latin typeface="Agency FB" panose="020B0503020202020204" pitchFamily="34" charset="0"/>
              </a:rPr>
              <a:t>Marketing is at the heart of an organization because its task is to identify and serve customers’ needs.  Mark</a:t>
            </a:r>
            <a:r>
              <a:rPr lang="en-GB" altLang="en-US" sz="3200" dirty="0">
                <a:latin typeface="Agency FB" panose="020B0503020202020204" pitchFamily="34" charset="0"/>
              </a:rPr>
              <a:t>eting</a:t>
            </a:r>
            <a:r>
              <a:rPr lang="en-US" sz="3200" dirty="0">
                <a:latin typeface="Agency FB" panose="020B0503020202020204" pitchFamily="34" charset="0"/>
              </a:rPr>
              <a:t> </a:t>
            </a:r>
            <a:r>
              <a:rPr lang="en-GB" altLang="en-US" sz="3200" dirty="0">
                <a:latin typeface="Agency FB" panose="020B0503020202020204" pitchFamily="34" charset="0"/>
              </a:rPr>
              <a:t>spans the</a:t>
            </a:r>
            <a:r>
              <a:rPr lang="en-US" sz="3200" dirty="0">
                <a:latin typeface="Agency FB" panose="020B0503020202020204" pitchFamily="34" charset="0"/>
              </a:rPr>
              <a:t> boundaries between a company and its customers. It is marketing that delivers</a:t>
            </a:r>
            <a:r>
              <a:rPr lang="en-GB" altLang="en-US" sz="3200" dirty="0">
                <a:latin typeface="Agency FB" panose="020B0503020202020204" pitchFamily="34" charset="0"/>
              </a:rPr>
              <a:t> and takes information</a:t>
            </a:r>
            <a:r>
              <a:rPr lang="en-US" sz="3200" dirty="0">
                <a:latin typeface="Agency FB" panose="020B0503020202020204" pitchFamily="34" charset="0"/>
              </a:rPr>
              <a:t> </a:t>
            </a:r>
            <a:r>
              <a:rPr lang="en-US" sz="3200" dirty="0">
                <a:latin typeface="Agency FB" panose="020B0503020202020204" pitchFamily="34" charset="0"/>
                <a:sym typeface="+mn-ea"/>
              </a:rPr>
              <a:t>about </a:t>
            </a:r>
            <a:r>
              <a:rPr lang="en-GB" altLang="en-US" sz="3200" dirty="0">
                <a:latin typeface="Agency FB" panose="020B0503020202020204" pitchFamily="34" charset="0"/>
                <a:sym typeface="+mn-ea"/>
              </a:rPr>
              <a:t>company’s</a:t>
            </a:r>
            <a:r>
              <a:rPr lang="en-US" sz="3200" dirty="0">
                <a:latin typeface="Agency FB" panose="020B0503020202020204" pitchFamily="34" charset="0"/>
                <a:sym typeface="+mn-ea"/>
              </a:rPr>
              <a:t> products and service</a:t>
            </a:r>
            <a:r>
              <a:rPr lang="en-US" sz="3200" dirty="0">
                <a:latin typeface="Agency FB" panose="020B0503020202020204" pitchFamily="34" charset="0"/>
              </a:rPr>
              <a:t> to customers</a:t>
            </a:r>
            <a:r>
              <a:rPr lang="en-GB" altLang="en-US" sz="3200" dirty="0">
                <a:latin typeface="Agency FB" panose="020B0503020202020204" pitchFamily="34" charset="0"/>
              </a:rPr>
              <a:t> and</a:t>
            </a:r>
            <a:r>
              <a:rPr lang="en-US" sz="3200" dirty="0">
                <a:latin typeface="Agency FB" panose="020B0503020202020204" pitchFamily="34" charset="0"/>
              </a:rPr>
              <a:t> it is marketing’s role to bring information about the customers back to the company.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71363"/>
            <a:ext cx="10058400" cy="1450757"/>
          </a:xfrm>
        </p:spPr>
        <p:txBody>
          <a:bodyPr/>
          <a:lstStyle/>
          <a:p>
            <a:r>
              <a:rPr lang="en-GB" altLang="en-US" dirty="0">
                <a:latin typeface="Arial Black" panose="020B0A04020102020204" pitchFamily="34" charset="0"/>
                <a:cs typeface="Arial Black" panose="020B0A04020102020204" pitchFamily="34" charset="0"/>
              </a:rPr>
              <a:t>Introduction cont’d</a:t>
            </a:r>
          </a:p>
        </p:txBody>
      </p:sp>
      <p:sp>
        <p:nvSpPr>
          <p:cNvPr id="3" name="Content Placeholder 2"/>
          <p:cNvSpPr>
            <a:spLocks noGrp="1"/>
          </p:cNvSpPr>
          <p:nvPr>
            <p:ph idx="1"/>
          </p:nvPr>
        </p:nvSpPr>
        <p:spPr/>
        <p:txBody>
          <a:bodyPr/>
          <a:lstStyle/>
          <a:p>
            <a:pPr>
              <a:lnSpc>
                <a:spcPct val="150000"/>
              </a:lnSpc>
            </a:pPr>
            <a:r>
              <a:rPr lang="en-US" sz="3200" dirty="0">
                <a:latin typeface="Agency FB" panose="020B0503020202020204" pitchFamily="34" charset="0"/>
                <a:sym typeface="+mn-ea"/>
              </a:rPr>
              <a:t>Although many people relate the term </a:t>
            </a:r>
            <a:r>
              <a:rPr lang="en-US" sz="3200" i="1" dirty="0">
                <a:latin typeface="Agency FB" panose="020B0503020202020204" pitchFamily="34" charset="0"/>
                <a:sym typeface="+mn-ea"/>
              </a:rPr>
              <a:t>marketing </a:t>
            </a:r>
            <a:r>
              <a:rPr lang="en-US" sz="3200" dirty="0">
                <a:latin typeface="Agency FB" panose="020B0503020202020204" pitchFamily="34" charset="0"/>
                <a:sym typeface="+mn-ea"/>
              </a:rPr>
              <a:t>to advertising and promotion, and the art of selling products, the scope of marketing is much broader. Many people are surprised when they hear that selling is not the most important part of selling; selling is only the tip of the marketing iceberg.  </a:t>
            </a:r>
            <a:endParaRPr lang="en-GB" altLang="en-US" sz="3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latin typeface="Arial Black" panose="020B0A04020102020204" pitchFamily="34" charset="0"/>
                <a:cs typeface="Arial Black" panose="020B0A04020102020204" pitchFamily="34" charset="0"/>
              </a:rPr>
              <a:t>Definitions</a:t>
            </a:r>
          </a:p>
        </p:txBody>
      </p:sp>
      <p:sp>
        <p:nvSpPr>
          <p:cNvPr id="3" name="Content Placeholder 2"/>
          <p:cNvSpPr>
            <a:spLocks noGrp="1"/>
          </p:cNvSpPr>
          <p:nvPr>
            <p:ph idx="1"/>
          </p:nvPr>
        </p:nvSpPr>
        <p:spPr/>
        <p:txBody>
          <a:bodyPr>
            <a:normAutofit/>
          </a:bodyPr>
          <a:lstStyle/>
          <a:p>
            <a:r>
              <a:rPr lang="en-US" sz="3200" dirty="0">
                <a:latin typeface="Agency FB" panose="020B0503020202020204" pitchFamily="34" charset="0"/>
                <a:cs typeface="Arial" panose="020B0604020202020204" pitchFamily="34" charset="0"/>
              </a:rPr>
              <a:t>The American Marketing Association deﬁnes marketi</a:t>
            </a:r>
            <a:r>
              <a:rPr lang="en-US" sz="3200" dirty="0">
                <a:latin typeface="Agency FB" panose="020B0503020202020204" pitchFamily="34" charset="0"/>
              </a:rPr>
              <a:t>ng as:</a:t>
            </a:r>
          </a:p>
          <a:p>
            <a:r>
              <a:rPr lang="en-US" sz="3200" i="1" dirty="0">
                <a:latin typeface="Agency FB" panose="020B0503020202020204" pitchFamily="34" charset="0"/>
              </a:rPr>
              <a:t>An organizational function and a set of processes for creating, communicating, and delivering value to customers and for managing customer relationships in ways that beneﬁts the organization and its stakeholders. </a:t>
            </a:r>
          </a:p>
          <a:p>
            <a:r>
              <a:rPr lang="en-US" sz="3200" i="1" dirty="0">
                <a:latin typeface="Agency FB" panose="020B0503020202020204" pitchFamily="34" charset="0"/>
              </a:rPr>
              <a:t>The Chartered Institute of Marketing, London defined marketing as management process responsible for identifying, anticipating and satisfying customer requirement profitably.</a:t>
            </a:r>
            <a:endParaRPr lang="en-US" sz="3200" dirty="0">
              <a:latin typeface="Agency FB" panose="020B0503020202020204" pitchFamily="34" charset="0"/>
            </a:endParaRPr>
          </a:p>
          <a:p>
            <a:endParaRPr lang="en-US" sz="3200" dirty="0">
              <a:latin typeface="Arial Narrow" panose="020B0606020202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36FF3-5209-5F28-0DE4-5D21613C1908}"/>
              </a:ext>
            </a:extLst>
          </p:cNvPr>
          <p:cNvSpPr>
            <a:spLocks noGrp="1"/>
          </p:cNvSpPr>
          <p:nvPr>
            <p:ph type="title"/>
          </p:nvPr>
        </p:nvSpPr>
        <p:spPr/>
        <p:txBody>
          <a:bodyPr/>
          <a:lstStyle/>
          <a:p>
            <a:r>
              <a:rPr lang="en-US" b="1" dirty="0">
                <a:solidFill>
                  <a:schemeClr val="accent2">
                    <a:lumMod val="75000"/>
                  </a:schemeClr>
                </a:solidFill>
                <a:latin typeface="Arial Black" panose="020B0A04020102020204" pitchFamily="34" charset="0"/>
              </a:rPr>
              <a:t>Core Marketing Concepts</a:t>
            </a:r>
          </a:p>
        </p:txBody>
      </p:sp>
      <p:sp>
        <p:nvSpPr>
          <p:cNvPr id="3" name="Content Placeholder 2">
            <a:extLst>
              <a:ext uri="{FF2B5EF4-FFF2-40B4-BE49-F238E27FC236}">
                <a16:creationId xmlns:a16="http://schemas.microsoft.com/office/drawing/2014/main" id="{1EC5B0B4-9E76-299D-566F-D6875F40BED7}"/>
              </a:ext>
            </a:extLst>
          </p:cNvPr>
          <p:cNvSpPr>
            <a:spLocks noGrp="1"/>
          </p:cNvSpPr>
          <p:nvPr>
            <p:ph idx="1"/>
          </p:nvPr>
        </p:nvSpPr>
        <p:spPr/>
        <p:txBody>
          <a:bodyPr/>
          <a:lstStyle/>
          <a:p>
            <a:pPr>
              <a:lnSpc>
                <a:spcPct val="150000"/>
              </a:lnSpc>
              <a:buFont typeface="Wingdings" panose="05000000000000000000" pitchFamily="2" charset="2"/>
              <a:buChar char="§"/>
            </a:pPr>
            <a:r>
              <a:rPr lang="en-US" dirty="0"/>
              <a:t> </a:t>
            </a:r>
            <a:r>
              <a:rPr lang="en-US" sz="2800" dirty="0">
                <a:latin typeface="Agency FB" panose="020B0503020202020204" pitchFamily="34" charset="0"/>
              </a:rPr>
              <a:t>Needs are basic human requirements</a:t>
            </a:r>
          </a:p>
          <a:p>
            <a:pPr>
              <a:lnSpc>
                <a:spcPct val="150000"/>
              </a:lnSpc>
              <a:buFont typeface="Wingdings" panose="05000000000000000000" pitchFamily="2" charset="2"/>
              <a:buChar char="§"/>
            </a:pPr>
            <a:r>
              <a:rPr lang="en-US" sz="2800" dirty="0">
                <a:latin typeface="Agency FB" panose="020B0503020202020204" pitchFamily="34" charset="0"/>
              </a:rPr>
              <a:t>Needs become wants when they are directed to specific objects that might satisfy the need</a:t>
            </a:r>
          </a:p>
          <a:p>
            <a:pPr>
              <a:lnSpc>
                <a:spcPct val="150000"/>
              </a:lnSpc>
              <a:buFont typeface="Wingdings" panose="05000000000000000000" pitchFamily="2" charset="2"/>
              <a:buChar char="§"/>
            </a:pPr>
            <a:r>
              <a:rPr lang="en-US" sz="2800" dirty="0">
                <a:latin typeface="Agency FB" panose="020B0503020202020204" pitchFamily="34" charset="0"/>
              </a:rPr>
              <a:t>Demands are wants for specific product backed by an ability to pay</a:t>
            </a:r>
          </a:p>
          <a:p>
            <a:pPr>
              <a:lnSpc>
                <a:spcPct val="150000"/>
              </a:lnSpc>
              <a:buFont typeface="Wingdings" panose="05000000000000000000" pitchFamily="2" charset="2"/>
              <a:buChar char="§"/>
            </a:pPr>
            <a:r>
              <a:rPr lang="en-US" sz="2800" dirty="0">
                <a:latin typeface="Agency FB" panose="020B0503020202020204" pitchFamily="34" charset="0"/>
              </a:rPr>
              <a:t> Offerings ands Brands- a value propositions, a set of benefits they offer to consumer.</a:t>
            </a:r>
          </a:p>
        </p:txBody>
      </p:sp>
    </p:spTree>
    <p:extLst>
      <p:ext uri="{BB962C8B-B14F-4D97-AF65-F5344CB8AC3E}">
        <p14:creationId xmlns:p14="http://schemas.microsoft.com/office/powerpoint/2010/main" val="1385514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7C5B1-C100-83F1-25D6-9EFDA0EC96D5}"/>
              </a:ext>
            </a:extLst>
          </p:cNvPr>
          <p:cNvSpPr>
            <a:spLocks noGrp="1"/>
          </p:cNvSpPr>
          <p:nvPr>
            <p:ph type="title"/>
          </p:nvPr>
        </p:nvSpPr>
        <p:spPr/>
        <p:txBody>
          <a:bodyPr/>
          <a:lstStyle/>
          <a:p>
            <a:r>
              <a:rPr lang="en-US" b="1" dirty="0">
                <a:solidFill>
                  <a:schemeClr val="accent2">
                    <a:lumMod val="75000"/>
                  </a:schemeClr>
                </a:solidFill>
              </a:rPr>
              <a:t>Major Societal Forces Driving Entrepreneurial Marketing</a:t>
            </a:r>
          </a:p>
        </p:txBody>
      </p:sp>
      <p:sp>
        <p:nvSpPr>
          <p:cNvPr id="3" name="Content Placeholder 2">
            <a:extLst>
              <a:ext uri="{FF2B5EF4-FFF2-40B4-BE49-F238E27FC236}">
                <a16:creationId xmlns:a16="http://schemas.microsoft.com/office/drawing/2014/main" id="{D67C33FE-D0A3-4CBF-9096-47AA78BE0171}"/>
              </a:ext>
            </a:extLst>
          </p:cNvPr>
          <p:cNvSpPr>
            <a:spLocks noGrp="1"/>
          </p:cNvSpPr>
          <p:nvPr>
            <p:ph idx="1"/>
          </p:nvPr>
        </p:nvSpPr>
        <p:spPr/>
        <p:txBody>
          <a:bodyPr>
            <a:normAutofit/>
          </a:bodyPr>
          <a:lstStyle/>
          <a:p>
            <a:pPr>
              <a:buFont typeface="Wingdings" panose="05000000000000000000" pitchFamily="2" charset="2"/>
              <a:buChar char="§"/>
            </a:pPr>
            <a:r>
              <a:rPr lang="en-US" dirty="0"/>
              <a:t> </a:t>
            </a:r>
            <a:r>
              <a:rPr lang="en-US" sz="2800" dirty="0">
                <a:latin typeface="Agency FB" panose="020B0503020202020204" pitchFamily="34" charset="0"/>
              </a:rPr>
              <a:t>Network information technology: The digital revolution has created and information age. Marketer can use the internet as a powerful information and sales channel, augmenting their geographical reach to inform customers and promote their businesses and products worldwide</a:t>
            </a:r>
          </a:p>
          <a:p>
            <a:pPr>
              <a:buFont typeface="Wingdings" panose="05000000000000000000" pitchFamily="2" charset="2"/>
              <a:buChar char="§"/>
            </a:pPr>
            <a:r>
              <a:rPr lang="en-US" sz="2800" dirty="0" err="1">
                <a:latin typeface="Agency FB" panose="020B0503020202020204" pitchFamily="34" charset="0"/>
              </a:rPr>
              <a:t>Globalisation</a:t>
            </a:r>
            <a:r>
              <a:rPr lang="en-US" sz="2800" dirty="0">
                <a:latin typeface="Agency FB" panose="020B0503020202020204" pitchFamily="34" charset="0"/>
              </a:rPr>
              <a:t>: Technological advances in transportation, shipping, and communication have made it easier for companies to market in other countries and easier for consumers to buy products and services from marketers in other countries</a:t>
            </a:r>
          </a:p>
          <a:p>
            <a:pPr>
              <a:buFont typeface="Wingdings" panose="05000000000000000000" pitchFamily="2" charset="2"/>
              <a:buChar char="§"/>
            </a:pPr>
            <a:r>
              <a:rPr lang="en-US" sz="2800" dirty="0">
                <a:latin typeface="Agency FB" panose="020B0503020202020204" pitchFamily="34" charset="0"/>
              </a:rPr>
              <a:t>Deregulation: Many countries have deregulated industries to create greater competition and growth opportunities</a:t>
            </a:r>
          </a:p>
        </p:txBody>
      </p:sp>
    </p:spTree>
    <p:extLst>
      <p:ext uri="{BB962C8B-B14F-4D97-AF65-F5344CB8AC3E}">
        <p14:creationId xmlns:p14="http://schemas.microsoft.com/office/powerpoint/2010/main" val="485654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B6B13-4949-0DDF-2B1C-E437B6CB10D7}"/>
              </a:ext>
            </a:extLst>
          </p:cNvPr>
          <p:cNvSpPr>
            <a:spLocks noGrp="1"/>
          </p:cNvSpPr>
          <p:nvPr>
            <p:ph type="title"/>
          </p:nvPr>
        </p:nvSpPr>
        <p:spPr/>
        <p:txBody>
          <a:bodyPr>
            <a:normAutofit fontScale="90000"/>
          </a:bodyPr>
          <a:lstStyle/>
          <a:p>
            <a:pPr marL="91440" marR="0" lvl="0" indent="-91440" algn="l" defTabSz="914400" rtl="0" eaLnBrk="1" fontAlgn="auto" latinLnBrk="0" hangingPunct="1">
              <a:lnSpc>
                <a:spcPct val="90000"/>
              </a:lnSpc>
              <a:spcBef>
                <a:spcPts val="1200"/>
              </a:spcBef>
              <a:spcAft>
                <a:spcPts val="200"/>
              </a:spcAft>
              <a:buClr>
                <a:srgbClr val="E48312"/>
              </a:buClr>
              <a:buSzPct val="100000"/>
              <a:buFont typeface="Wingdings" panose="05000000000000000000" pitchFamily="2" charset="2"/>
              <a:buChar char="§"/>
              <a:tabLst/>
              <a:defRPr/>
            </a:pPr>
            <a:br>
              <a:rPr kumimoji="0" lang="en-US" sz="2600" b="0" i="0" u="none" strike="noStrike" kern="1200" cap="none" spc="0" normalizeH="0" baseline="0" noProof="0" dirty="0">
                <a:ln>
                  <a:noFill/>
                </a:ln>
                <a:solidFill>
                  <a:srgbClr val="000000">
                    <a:lumMod val="75000"/>
                    <a:lumOff val="25000"/>
                  </a:srgbClr>
                </a:solidFill>
                <a:effectLst/>
                <a:uLnTx/>
                <a:uFillTx/>
                <a:latin typeface="Agency FB" panose="020B0503020202020204" pitchFamily="34" charset="0"/>
                <a:ea typeface="+mn-ea"/>
                <a:cs typeface="+mn-cs"/>
              </a:rPr>
            </a:br>
            <a:br>
              <a:rPr kumimoji="0" lang="en-US" sz="2600" b="0" i="0" u="none" strike="noStrike" kern="1200" cap="none" spc="0" normalizeH="0" baseline="0" noProof="0" dirty="0">
                <a:ln>
                  <a:noFill/>
                </a:ln>
                <a:solidFill>
                  <a:srgbClr val="000000">
                    <a:lumMod val="75000"/>
                    <a:lumOff val="25000"/>
                  </a:srgbClr>
                </a:solidFill>
                <a:effectLst/>
                <a:uLnTx/>
                <a:uFillTx/>
                <a:latin typeface="Agency FB" panose="020B0503020202020204" pitchFamily="34" charset="0"/>
                <a:ea typeface="+mn-ea"/>
                <a:cs typeface="+mn-cs"/>
              </a:rPr>
            </a:br>
            <a:r>
              <a:rPr kumimoji="0" lang="en-US" sz="4800" b="1" i="0" u="none" strike="noStrike" kern="1200" cap="none" spc="-50" normalizeH="0" baseline="0" noProof="0" dirty="0">
                <a:ln>
                  <a:noFill/>
                </a:ln>
                <a:solidFill>
                  <a:srgbClr val="BD582C">
                    <a:lumMod val="75000"/>
                  </a:srgbClr>
                </a:solidFill>
                <a:effectLst/>
                <a:uLnTx/>
                <a:uFillTx/>
                <a:latin typeface="Calibri Light"/>
                <a:ea typeface="+mj-ea"/>
                <a:cs typeface="+mj-cs"/>
              </a:rPr>
              <a:t>Major Societal Forces Driving Entrepreneurial Marketing Cont’d</a:t>
            </a:r>
            <a:endParaRPr lang="en-US" dirty="0"/>
          </a:p>
        </p:txBody>
      </p:sp>
      <p:sp>
        <p:nvSpPr>
          <p:cNvPr id="3" name="Content Placeholder 2">
            <a:extLst>
              <a:ext uri="{FF2B5EF4-FFF2-40B4-BE49-F238E27FC236}">
                <a16:creationId xmlns:a16="http://schemas.microsoft.com/office/drawing/2014/main" id="{60D7E583-1BBB-7CF5-E790-26D04B93C3F0}"/>
              </a:ext>
            </a:extLst>
          </p:cNvPr>
          <p:cNvSpPr>
            <a:spLocks noGrp="1"/>
          </p:cNvSpPr>
          <p:nvPr>
            <p:ph idx="1"/>
          </p:nvPr>
        </p:nvSpPr>
        <p:spPr/>
        <p:txBody>
          <a:bodyPr>
            <a:normAutofit lnSpcReduction="10000"/>
          </a:bodyPr>
          <a:lstStyle/>
          <a:p>
            <a:pPr marL="91440" marR="0" lvl="0" indent="-91440" algn="l" defTabSz="914400" rtl="0" eaLnBrk="1" fontAlgn="auto" latinLnBrk="0" hangingPunct="1">
              <a:lnSpc>
                <a:spcPct val="90000"/>
              </a:lnSpc>
              <a:spcBef>
                <a:spcPts val="1200"/>
              </a:spcBef>
              <a:spcAft>
                <a:spcPts val="200"/>
              </a:spcAft>
              <a:buClr>
                <a:srgbClr val="E48312"/>
              </a:buClr>
              <a:buSzPct val="100000"/>
              <a:buFont typeface="Wingdings" panose="05000000000000000000" pitchFamily="2" charset="2"/>
              <a:buChar char="§"/>
              <a:tabLst/>
              <a:defRPr/>
            </a:pPr>
            <a:r>
              <a:rPr kumimoji="0" lang="en-US" sz="3200" b="0" i="0" u="none" strike="noStrike" kern="1200" cap="none" spc="0" normalizeH="0" baseline="0" noProof="0" dirty="0">
                <a:ln>
                  <a:noFill/>
                </a:ln>
                <a:solidFill>
                  <a:srgbClr val="000000">
                    <a:lumMod val="75000"/>
                    <a:lumOff val="25000"/>
                  </a:srgbClr>
                </a:solidFill>
                <a:effectLst/>
                <a:uLnTx/>
                <a:uFillTx/>
                <a:latin typeface="Agency FB" panose="020B0503020202020204" pitchFamily="34" charset="0"/>
                <a:ea typeface="+mn-ea"/>
                <a:cs typeface="+mn-cs"/>
              </a:rPr>
              <a:t>Privatizations : Many countries have converted public companies to private ownership and management to increase their efficiency</a:t>
            </a:r>
          </a:p>
          <a:p>
            <a:pPr marR="0" lvl="0" algn="l" defTabSz="914400" rtl="0" eaLnBrk="1" fontAlgn="auto" latinLnBrk="0" hangingPunct="1">
              <a:lnSpc>
                <a:spcPct val="90000"/>
              </a:lnSpc>
              <a:spcBef>
                <a:spcPts val="1200"/>
              </a:spcBef>
              <a:spcAft>
                <a:spcPts val="200"/>
              </a:spcAft>
              <a:buClr>
                <a:srgbClr val="E48312"/>
              </a:buClr>
              <a:buSzPct val="100000"/>
              <a:buFont typeface="Wingdings" panose="05000000000000000000" pitchFamily="2" charset="2"/>
              <a:buChar char="§"/>
              <a:tabLst/>
              <a:defRPr/>
            </a:pPr>
            <a:r>
              <a:rPr kumimoji="0" lang="en-US" sz="3200" b="0" i="0" u="none" strike="noStrike" kern="1200" cap="none" spc="0" normalizeH="0" baseline="0" noProof="0" dirty="0">
                <a:ln>
                  <a:noFill/>
                </a:ln>
                <a:solidFill>
                  <a:srgbClr val="000000">
                    <a:lumMod val="75000"/>
                    <a:lumOff val="25000"/>
                  </a:srgbClr>
                </a:solidFill>
                <a:effectLst/>
                <a:uLnTx/>
                <a:uFillTx/>
                <a:latin typeface="Agency FB" panose="020B0503020202020204" pitchFamily="34" charset="0"/>
              </a:rPr>
              <a:t>Retail transformation: Store –based retailers face competition from catalog houses; direct-mail firms; newspaper, </a:t>
            </a:r>
            <a:r>
              <a:rPr kumimoji="0" lang="en-US" sz="3200" b="0" i="0" u="none" strike="noStrike" kern="1200" cap="none" spc="0" normalizeH="0" baseline="0" noProof="0" dirty="0" err="1">
                <a:ln>
                  <a:noFill/>
                </a:ln>
                <a:solidFill>
                  <a:srgbClr val="000000">
                    <a:lumMod val="75000"/>
                    <a:lumOff val="25000"/>
                  </a:srgbClr>
                </a:solidFill>
                <a:effectLst/>
                <a:uLnTx/>
                <a:uFillTx/>
                <a:latin typeface="Agency FB" panose="020B0503020202020204" pitchFamily="34" charset="0"/>
              </a:rPr>
              <a:t>magazine,and</a:t>
            </a:r>
            <a:r>
              <a:rPr kumimoji="0" lang="en-US" sz="3200" b="0" i="0" u="none" strike="noStrike" kern="1200" cap="none" spc="0" normalizeH="0" baseline="0" noProof="0" dirty="0">
                <a:ln>
                  <a:noFill/>
                </a:ln>
                <a:solidFill>
                  <a:srgbClr val="000000">
                    <a:lumMod val="75000"/>
                    <a:lumOff val="25000"/>
                  </a:srgbClr>
                </a:solidFill>
                <a:effectLst/>
                <a:uLnTx/>
                <a:uFillTx/>
                <a:latin typeface="Agency FB" panose="020B0503020202020204" pitchFamily="34" charset="0"/>
              </a:rPr>
              <a:t> TV direct- to – customer ads; home shopping TV; and e-commerce on the internet Entrepreneurial retailers are building</a:t>
            </a:r>
          </a:p>
          <a:p>
            <a:pPr marR="0" lvl="0" algn="l" defTabSz="914400" rtl="0" eaLnBrk="1" fontAlgn="auto" latinLnBrk="0" hangingPunct="1">
              <a:lnSpc>
                <a:spcPct val="90000"/>
              </a:lnSpc>
              <a:spcBef>
                <a:spcPts val="1200"/>
              </a:spcBef>
              <a:spcAft>
                <a:spcPts val="200"/>
              </a:spcAft>
              <a:buClr>
                <a:srgbClr val="E48312"/>
              </a:buClr>
              <a:buSzPct val="100000"/>
              <a:buFont typeface="Wingdings" panose="05000000000000000000" pitchFamily="2" charset="2"/>
              <a:buChar char="§"/>
              <a:tabLst/>
              <a:defRPr/>
            </a:pPr>
            <a:r>
              <a:rPr lang="en-US" sz="3200" dirty="0">
                <a:solidFill>
                  <a:srgbClr val="000000">
                    <a:lumMod val="75000"/>
                    <a:lumOff val="25000"/>
                  </a:srgbClr>
                </a:solidFill>
                <a:latin typeface="Agency FB" panose="020B0503020202020204" pitchFamily="34" charset="0"/>
              </a:rPr>
              <a:t> Greater ease in interacting  and placing and receiving orders. Today’s buyers can place orders from office, or mobile phone 24 hours a day, 7 days a week, and quickly receive  goods at their home or office</a:t>
            </a:r>
            <a:endParaRPr kumimoji="0" lang="en-US" sz="3200" b="0" i="0" u="none" strike="noStrike" kern="1200" cap="none" spc="0" normalizeH="0" baseline="0" noProof="0" dirty="0">
              <a:ln>
                <a:noFill/>
              </a:ln>
              <a:solidFill>
                <a:srgbClr val="000000">
                  <a:lumMod val="75000"/>
                  <a:lumOff val="25000"/>
                </a:srgbClr>
              </a:solidFill>
              <a:effectLst/>
              <a:uLnTx/>
              <a:uFillTx/>
              <a:latin typeface="Agency FB" panose="020B0503020202020204" pitchFamily="34" charset="0"/>
            </a:endParaRPr>
          </a:p>
          <a:p>
            <a:endParaRPr lang="en-US" dirty="0"/>
          </a:p>
        </p:txBody>
      </p:sp>
    </p:spTree>
    <p:extLst>
      <p:ext uri="{BB962C8B-B14F-4D97-AF65-F5344CB8AC3E}">
        <p14:creationId xmlns:p14="http://schemas.microsoft.com/office/powerpoint/2010/main" val="22812927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4D0D2-B50F-366F-D534-6F90F21D8E4A}"/>
              </a:ext>
            </a:extLst>
          </p:cNvPr>
          <p:cNvSpPr>
            <a:spLocks noGrp="1"/>
          </p:cNvSpPr>
          <p:nvPr>
            <p:ph type="title"/>
          </p:nvPr>
        </p:nvSpPr>
        <p:spPr/>
        <p:txBody>
          <a:bodyPr/>
          <a:lstStyle/>
          <a:p>
            <a:r>
              <a:rPr lang="en-US" dirty="0">
                <a:solidFill>
                  <a:schemeClr val="accent2">
                    <a:lumMod val="75000"/>
                  </a:schemeClr>
                </a:solidFill>
                <a:latin typeface="Agency FB" panose="020B0503020202020204" pitchFamily="34" charset="0"/>
              </a:rPr>
              <a:t>New Consumer Capabilities</a:t>
            </a:r>
          </a:p>
        </p:txBody>
      </p:sp>
      <p:sp>
        <p:nvSpPr>
          <p:cNvPr id="3" name="Content Placeholder 2">
            <a:extLst>
              <a:ext uri="{FF2B5EF4-FFF2-40B4-BE49-F238E27FC236}">
                <a16:creationId xmlns:a16="http://schemas.microsoft.com/office/drawing/2014/main" id="{2867C7B3-3904-07A4-6580-C5D6E1A99035}"/>
              </a:ext>
            </a:extLst>
          </p:cNvPr>
          <p:cNvSpPr>
            <a:spLocks noGrp="1"/>
          </p:cNvSpPr>
          <p:nvPr>
            <p:ph idx="1"/>
          </p:nvPr>
        </p:nvSpPr>
        <p:spPr/>
        <p:txBody>
          <a:bodyPr/>
          <a:lstStyle/>
          <a:p>
            <a:pPr>
              <a:buFont typeface="Wingdings" panose="05000000000000000000" pitchFamily="2" charset="2"/>
              <a:buChar char="§"/>
            </a:pPr>
            <a:r>
              <a:rPr lang="en-US" dirty="0"/>
              <a:t>  </a:t>
            </a:r>
            <a:r>
              <a:rPr lang="en-US" sz="3200" dirty="0">
                <a:latin typeface="Agency FB" panose="020B0503020202020204" pitchFamily="34" charset="0"/>
              </a:rPr>
              <a:t>A substantial increase in buyer power</a:t>
            </a:r>
          </a:p>
          <a:p>
            <a:pPr>
              <a:buFont typeface="Wingdings" panose="05000000000000000000" pitchFamily="2" charset="2"/>
              <a:buChar char="§"/>
            </a:pPr>
            <a:r>
              <a:rPr lang="en-US" sz="3200" dirty="0">
                <a:latin typeface="Agency FB" panose="020B0503020202020204" pitchFamily="34" charset="0"/>
              </a:rPr>
              <a:t> A greater variety of available goods and services</a:t>
            </a:r>
          </a:p>
          <a:p>
            <a:pPr>
              <a:buFont typeface="Wingdings" panose="05000000000000000000" pitchFamily="2" charset="2"/>
              <a:buChar char="§"/>
            </a:pPr>
            <a:r>
              <a:rPr lang="en-US" sz="3200" dirty="0">
                <a:latin typeface="Agency FB" panose="020B0503020202020204" pitchFamily="34" charset="0"/>
              </a:rPr>
              <a:t>A great amount of information about practically anything</a:t>
            </a:r>
          </a:p>
          <a:p>
            <a:pPr>
              <a:buFont typeface="Wingdings" panose="05000000000000000000" pitchFamily="2" charset="2"/>
              <a:buChar char="§"/>
            </a:pPr>
            <a:r>
              <a:rPr lang="en-US" sz="3200" dirty="0">
                <a:latin typeface="Agency FB" panose="020B0503020202020204" pitchFamily="34" charset="0"/>
              </a:rPr>
              <a:t> greater ease in interacting</a:t>
            </a:r>
          </a:p>
          <a:p>
            <a:pPr>
              <a:buFont typeface="Wingdings" panose="05000000000000000000" pitchFamily="2" charset="2"/>
              <a:buChar char="§"/>
            </a:pPr>
            <a:r>
              <a:rPr lang="en-US" sz="3200" dirty="0">
                <a:latin typeface="Agency FB" panose="020B0503020202020204" pitchFamily="34" charset="0"/>
              </a:rPr>
              <a:t>An ability to compare notes on products and services</a:t>
            </a:r>
          </a:p>
          <a:p>
            <a:pPr>
              <a:buFont typeface="Wingdings" panose="05000000000000000000" pitchFamily="2" charset="2"/>
              <a:buChar char="§"/>
            </a:pPr>
            <a:r>
              <a:rPr lang="en-US" sz="3200" dirty="0">
                <a:latin typeface="Agency FB" panose="020B0503020202020204" pitchFamily="34" charset="0"/>
              </a:rPr>
              <a:t>An amplify voice to influence peer and public opinion</a:t>
            </a:r>
            <a:r>
              <a:rPr lang="en-US" dirty="0"/>
              <a:t>.</a:t>
            </a:r>
          </a:p>
        </p:txBody>
      </p:sp>
    </p:spTree>
    <p:extLst>
      <p:ext uri="{BB962C8B-B14F-4D97-AF65-F5344CB8AC3E}">
        <p14:creationId xmlns:p14="http://schemas.microsoft.com/office/powerpoint/2010/main" val="1087954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C0107-1639-A16B-A33D-95172789714B}"/>
              </a:ext>
            </a:extLst>
          </p:cNvPr>
          <p:cNvSpPr>
            <a:spLocks noGrp="1"/>
          </p:cNvSpPr>
          <p:nvPr>
            <p:ph type="title"/>
          </p:nvPr>
        </p:nvSpPr>
        <p:spPr>
          <a:xfrm>
            <a:off x="1097280" y="286603"/>
            <a:ext cx="10058400" cy="1450757"/>
          </a:xfrm>
        </p:spPr>
        <p:txBody>
          <a:bodyPr/>
          <a:lstStyle/>
          <a:p>
            <a:r>
              <a:rPr lang="en-US" dirty="0">
                <a:solidFill>
                  <a:schemeClr val="accent1">
                    <a:lumMod val="75000"/>
                  </a:schemeClr>
                </a:solidFill>
                <a:latin typeface="Agency FB" panose="020B0503020202020204" pitchFamily="34" charset="0"/>
              </a:rPr>
              <a:t>Major concepts in Marketing</a:t>
            </a:r>
          </a:p>
        </p:txBody>
      </p:sp>
      <p:sp>
        <p:nvSpPr>
          <p:cNvPr id="3" name="Content Placeholder 2">
            <a:extLst>
              <a:ext uri="{FF2B5EF4-FFF2-40B4-BE49-F238E27FC236}">
                <a16:creationId xmlns:a16="http://schemas.microsoft.com/office/drawing/2014/main" id="{098A4E49-3EB1-3948-7419-4F731E8C6F60}"/>
              </a:ext>
            </a:extLst>
          </p:cNvPr>
          <p:cNvSpPr>
            <a:spLocks noGrp="1"/>
          </p:cNvSpPr>
          <p:nvPr>
            <p:ph idx="1"/>
          </p:nvPr>
        </p:nvSpPr>
        <p:spPr/>
        <p:txBody>
          <a:bodyPr>
            <a:normAutofit fontScale="92500" lnSpcReduction="10000"/>
          </a:bodyPr>
          <a:lstStyle/>
          <a:p>
            <a:pPr>
              <a:buFont typeface="Wingdings" panose="05000000000000000000" pitchFamily="2" charset="2"/>
              <a:buChar char="§"/>
            </a:pPr>
            <a:r>
              <a:rPr lang="en-US" sz="3200" dirty="0">
                <a:latin typeface="Agency FB" panose="020B0503020202020204" pitchFamily="34" charset="0"/>
              </a:rPr>
              <a:t>Production concept holds that consumers will prefer product that are widely available</a:t>
            </a:r>
          </a:p>
          <a:p>
            <a:pPr>
              <a:buFont typeface="Wingdings" panose="05000000000000000000" pitchFamily="2" charset="2"/>
              <a:buChar char="§"/>
            </a:pPr>
            <a:r>
              <a:rPr lang="en-US" sz="3200" dirty="0">
                <a:latin typeface="Agency FB" panose="020B0503020202020204" pitchFamily="34" charset="0"/>
              </a:rPr>
              <a:t>Product concept holds that consumers will </a:t>
            </a:r>
            <a:r>
              <a:rPr lang="en-US" sz="3200" dirty="0" err="1">
                <a:latin typeface="Agency FB" panose="020B0503020202020204" pitchFamily="34" charset="0"/>
              </a:rPr>
              <a:t>favour</a:t>
            </a:r>
            <a:r>
              <a:rPr lang="en-US" sz="3200" dirty="0">
                <a:latin typeface="Agency FB" panose="020B0503020202020204" pitchFamily="34" charset="0"/>
              </a:rPr>
              <a:t> those products that offer the best quality, performance or innovative feature </a:t>
            </a:r>
          </a:p>
          <a:p>
            <a:pPr>
              <a:buFont typeface="Wingdings" panose="05000000000000000000" pitchFamily="2" charset="2"/>
              <a:buChar char="§"/>
            </a:pPr>
            <a:r>
              <a:rPr lang="en-US" sz="3200" dirty="0">
                <a:latin typeface="Agency FB" panose="020B0503020202020204" pitchFamily="34" charset="0"/>
              </a:rPr>
              <a:t>Selling concept holds that consumers and businesses if left alone won’t buy enough of the </a:t>
            </a:r>
            <a:r>
              <a:rPr lang="en-US" sz="3200" dirty="0" err="1">
                <a:latin typeface="Agency FB" panose="020B0503020202020204" pitchFamily="34" charset="0"/>
              </a:rPr>
              <a:t>organisation’s</a:t>
            </a:r>
            <a:r>
              <a:rPr lang="en-US" sz="3200" dirty="0">
                <a:latin typeface="Agency FB" panose="020B0503020202020204" pitchFamily="34" charset="0"/>
              </a:rPr>
              <a:t>  products. The organization must , therefore, undertake aggressive selling and promotion efforts to stimulate sales</a:t>
            </a:r>
          </a:p>
          <a:p>
            <a:pPr>
              <a:buFont typeface="Wingdings" panose="05000000000000000000" pitchFamily="2" charset="2"/>
              <a:buChar char="§"/>
            </a:pPr>
            <a:r>
              <a:rPr lang="en-US" sz="3200" dirty="0">
                <a:latin typeface="Agency FB" panose="020B0503020202020204" pitchFamily="34" charset="0"/>
              </a:rPr>
              <a:t>Marketing concept it holds that the key to achieving organizational goals is being more effective than competitors in </a:t>
            </a:r>
            <a:r>
              <a:rPr lang="en-US" sz="3200" dirty="0" err="1">
                <a:latin typeface="Agency FB" panose="020B0503020202020204" pitchFamily="34" charset="0"/>
              </a:rPr>
              <a:t>creating,delivering</a:t>
            </a:r>
            <a:r>
              <a:rPr lang="en-US" sz="3200" dirty="0">
                <a:latin typeface="Agency FB" panose="020B0503020202020204" pitchFamily="34" charset="0"/>
              </a:rPr>
              <a:t>, and communicating</a:t>
            </a:r>
          </a:p>
          <a:p>
            <a:pPr>
              <a:buFont typeface="Wingdings" panose="05000000000000000000" pitchFamily="2" charset="2"/>
              <a:buChar char="§"/>
            </a:pPr>
            <a:endParaRPr lang="en-US" dirty="0"/>
          </a:p>
        </p:txBody>
      </p:sp>
    </p:spTree>
    <p:extLst>
      <p:ext uri="{BB962C8B-B14F-4D97-AF65-F5344CB8AC3E}">
        <p14:creationId xmlns:p14="http://schemas.microsoft.com/office/powerpoint/2010/main" val="34969755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latin typeface="Arial Black" panose="020B0A04020102020204" pitchFamily="34" charset="0"/>
                <a:cs typeface="Arial Black" panose="020B0A04020102020204" pitchFamily="34" charset="0"/>
                <a:sym typeface="+mn-ea"/>
              </a:rPr>
            </a:br>
            <a:br>
              <a:rPr lang="en-US" b="1" dirty="0">
                <a:latin typeface="Arial Black" panose="020B0A04020102020204" pitchFamily="34" charset="0"/>
                <a:cs typeface="Arial Black" panose="020B0A04020102020204" pitchFamily="34" charset="0"/>
                <a:sym typeface="+mn-ea"/>
              </a:rPr>
            </a:br>
            <a:br>
              <a:rPr lang="en-US" b="1" dirty="0">
                <a:latin typeface="Arial Black" panose="020B0A04020102020204" pitchFamily="34" charset="0"/>
                <a:cs typeface="Arial Black" panose="020B0A04020102020204" pitchFamily="34" charset="0"/>
                <a:sym typeface="+mn-ea"/>
              </a:rPr>
            </a:br>
            <a:r>
              <a:rPr lang="en-US" b="1" dirty="0">
                <a:latin typeface="Arial Black" panose="020B0A04020102020204" pitchFamily="34" charset="0"/>
                <a:cs typeface="Arial Black" panose="020B0A04020102020204" pitchFamily="34" charset="0"/>
                <a:sym typeface="+mn-ea"/>
              </a:rPr>
              <a:t> </a:t>
            </a:r>
            <a:br>
              <a:rPr lang="en-US" dirty="0">
                <a:latin typeface="Arial Black" panose="020B0A04020102020204" pitchFamily="34" charset="0"/>
                <a:cs typeface="Arial Black" panose="020B0A04020102020204" pitchFamily="34" charset="0"/>
                <a:sym typeface="+mn-ea"/>
              </a:rPr>
            </a:br>
            <a:r>
              <a:rPr lang="en-GB" altLang="en-US" dirty="0">
                <a:solidFill>
                  <a:schemeClr val="accent2">
                    <a:lumMod val="75000"/>
                  </a:schemeClr>
                </a:solidFill>
                <a:latin typeface="Agency FB" panose="020B0503020202020204" pitchFamily="34" charset="0"/>
                <a:cs typeface="Arial Black" panose="020B0A04020102020204" pitchFamily="34" charset="0"/>
                <a:sym typeface="+mn-ea"/>
              </a:rPr>
              <a:t>Why Marketing is Critical for Entrepreneur</a:t>
            </a:r>
          </a:p>
        </p:txBody>
      </p:sp>
      <p:sp>
        <p:nvSpPr>
          <p:cNvPr id="3" name="Content Placeholder 2"/>
          <p:cNvSpPr>
            <a:spLocks noGrp="1"/>
          </p:cNvSpPr>
          <p:nvPr>
            <p:ph idx="1"/>
          </p:nvPr>
        </p:nvSpPr>
        <p:spPr/>
        <p:txBody>
          <a:bodyPr/>
          <a:lstStyle/>
          <a:p>
            <a:pPr>
              <a:lnSpc>
                <a:spcPct val="150000"/>
              </a:lnSpc>
              <a:buFont typeface="Wingdings" panose="05000000000000000000" pitchFamily="2" charset="2"/>
              <a:buChar char="§"/>
            </a:pPr>
            <a:r>
              <a:rPr lang="en-US" sz="3200" dirty="0">
                <a:latin typeface="Agency FB" panose="020B0503020202020204" pitchFamily="34" charset="0"/>
                <a:cs typeface="Agency FB" panose="020B0503020202020204" pitchFamily="34" charset="0"/>
                <a:sym typeface="+mn-ea"/>
              </a:rPr>
              <a:t>An important part of gaining the market’s acceptance is building brand awareness, which</a:t>
            </a:r>
            <a:r>
              <a:rPr lang="en-GB" altLang="en-US" sz="3200" dirty="0">
                <a:latin typeface="Agency FB" panose="020B0503020202020204" pitchFamily="34" charset="0"/>
                <a:cs typeface="Agency FB" panose="020B0503020202020204" pitchFamily="34" charset="0"/>
                <a:sym typeface="+mn-ea"/>
              </a:rPr>
              <a:t> </a:t>
            </a:r>
            <a:r>
              <a:rPr lang="en-US" sz="3200" dirty="0">
                <a:latin typeface="Agency FB" panose="020B0503020202020204" pitchFamily="34" charset="0"/>
                <a:cs typeface="Agency FB" panose="020B0503020202020204" pitchFamily="34" charset="0"/>
                <a:sym typeface="+mn-ea"/>
              </a:rPr>
              <a:t>depending on the stage of the venture, may be weak or even non-existent. Entrepreneurs must</a:t>
            </a:r>
            <a:r>
              <a:rPr lang="en-GB" altLang="en-US" sz="3200" dirty="0">
                <a:latin typeface="Agency FB" panose="020B0503020202020204" pitchFamily="34" charset="0"/>
                <a:cs typeface="Agency FB" panose="020B0503020202020204" pitchFamily="34" charset="0"/>
                <a:sym typeface="+mn-ea"/>
              </a:rPr>
              <a:t> </a:t>
            </a:r>
            <a:r>
              <a:rPr lang="en-US" sz="3200" dirty="0">
                <a:latin typeface="Agency FB" panose="020B0503020202020204" pitchFamily="34" charset="0"/>
                <a:cs typeface="Agency FB" panose="020B0503020202020204" pitchFamily="34" charset="0"/>
                <a:sym typeface="+mn-ea"/>
              </a:rPr>
              <a:t>differentiate their company’s product or service so its distinctiveness and value are clear to the customer</a:t>
            </a:r>
            <a:r>
              <a:rPr lang="en-GB" altLang="en-US" sz="3200" dirty="0">
                <a:latin typeface="Agency FB" panose="020B0503020202020204" pitchFamily="34" charset="0"/>
                <a:cs typeface="Agency FB" panose="020B0503020202020204" pitchFamily="34" charset="0"/>
                <a:sym typeface="+mn-ea"/>
              </a:rPr>
              <a:t>.</a:t>
            </a:r>
            <a:endParaRPr lang="en-US" sz="3200" dirty="0">
              <a:latin typeface="Agency FB" panose="020B0503020202020204" pitchFamily="34" charset="0"/>
              <a:cs typeface="Agency FB" panose="020B0503020202020204" pitchFamily="34" charset="0"/>
            </a:endParaRPr>
          </a:p>
          <a:p>
            <a:pPr>
              <a:lnSpc>
                <a:spcPct val="150000"/>
              </a:lnSpc>
            </a:pPr>
            <a:endParaRPr lang="en-GB" altLang="en-US" sz="3200" dirty="0">
              <a:latin typeface="Agency FB" panose="020B0503020202020204" pitchFamily="34" charset="0"/>
              <a:cs typeface="Agency FB" panose="020B0503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b="1" dirty="0">
                <a:solidFill>
                  <a:schemeClr val="accent3"/>
                </a:solidFill>
                <a:latin typeface="Arial Black" panose="020B0A04020102020204" pitchFamily="34" charset="0"/>
                <a:cs typeface="Arial Black" panose="020B0A04020102020204" pitchFamily="34" charset="0"/>
              </a:rPr>
              <a:t>Entrepreneurs Face Unique Marketing Challenges</a:t>
            </a:r>
            <a:endParaRPr lang="fr-FR" dirty="0">
              <a:solidFill>
                <a:schemeClr val="accent3"/>
              </a:solidFill>
              <a:latin typeface="Arial Black" panose="020B0A04020102020204" pitchFamily="34" charset="0"/>
              <a:cs typeface="Arial Black" panose="020B0A04020102020204" pitchFamily="34" charset="0"/>
            </a:endParaRPr>
          </a:p>
        </p:txBody>
      </p:sp>
      <p:sp>
        <p:nvSpPr>
          <p:cNvPr id="3" name="Content Placeholder 2"/>
          <p:cNvSpPr>
            <a:spLocks noGrp="1"/>
          </p:cNvSpPr>
          <p:nvPr>
            <p:ph idx="1"/>
          </p:nvPr>
        </p:nvSpPr>
        <p:spPr/>
        <p:txBody>
          <a:bodyPr>
            <a:noAutofit/>
          </a:bodyPr>
          <a:lstStyle/>
          <a:p>
            <a:pPr>
              <a:buFont typeface="Wingdings" panose="05000000000000000000" pitchFamily="2" charset="2"/>
              <a:buChar char="§"/>
            </a:pPr>
            <a:r>
              <a:rPr lang="en-US" sz="3200" dirty="0">
                <a:latin typeface="Agency FB" panose="020B0503020202020204" pitchFamily="34" charset="0"/>
                <a:cs typeface="Agency FB" panose="020B0503020202020204" pitchFamily="34" charset="0"/>
              </a:rPr>
              <a:t>First, entrepreneurial companies typically have limited resources—ﬁnancial as well as managerial. Just as they rarely have enough money to support marketing activities, they also rarely have proven marketing expertise within the company. </a:t>
            </a:r>
          </a:p>
          <a:p>
            <a:pPr>
              <a:buFont typeface="Wingdings" panose="05000000000000000000" pitchFamily="2" charset="2"/>
              <a:buChar char="§"/>
            </a:pPr>
            <a:r>
              <a:rPr lang="en-US" sz="3200" dirty="0">
                <a:latin typeface="Agency FB" panose="020B0503020202020204" pitchFamily="34" charset="0"/>
                <a:cs typeface="Agency FB" panose="020B0503020202020204" pitchFamily="34" charset="0"/>
              </a:rPr>
              <a:t>Entrepreneurs usually are restricted in their access to distributors—both wholesalers and retailers. </a:t>
            </a:r>
          </a:p>
          <a:p>
            <a:pPr marL="0" indent="0">
              <a:buNone/>
            </a:pPr>
            <a:endParaRPr lang="en-US" sz="3200" dirty="0">
              <a:latin typeface="Agency FB" panose="020B0503020202020204" pitchFamily="34" charset="0"/>
              <a:cs typeface="Agency FB" panose="020B0503020202020204" pitchFamily="34" charset="0"/>
            </a:endParaRPr>
          </a:p>
          <a:p>
            <a:endParaRPr lang="en-US" sz="3200" dirty="0">
              <a:latin typeface="Agency FB" panose="020B0503020202020204" pitchFamily="34" charset="0"/>
              <a:cs typeface="Agency FB" panose="020B0503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b="1" dirty="0">
                <a:latin typeface="Arial Black" panose="020B0A04020102020204" pitchFamily="34" charset="0"/>
                <a:cs typeface="Arial Black" panose="020B0A04020102020204" pitchFamily="34" charset="0"/>
                <a:sym typeface="+mn-ea"/>
              </a:rPr>
              <a:t>Entrepreneurs Face Unique Marketing Challenges</a:t>
            </a:r>
            <a:br>
              <a:rPr lang="fr-FR" dirty="0">
                <a:latin typeface="Arial Black" panose="020B0A04020102020204" pitchFamily="34" charset="0"/>
                <a:cs typeface="Arial Black" panose="020B0A04020102020204" pitchFamily="34" charset="0"/>
              </a:rPr>
            </a:br>
            <a:endParaRPr lang="en-US"/>
          </a:p>
        </p:txBody>
      </p:sp>
      <p:sp>
        <p:nvSpPr>
          <p:cNvPr id="3" name="Content Placeholder 2"/>
          <p:cNvSpPr>
            <a:spLocks noGrp="1"/>
          </p:cNvSpPr>
          <p:nvPr>
            <p:ph idx="1"/>
          </p:nvPr>
        </p:nvSpPr>
        <p:spPr/>
        <p:txBody>
          <a:bodyPr>
            <a:noAutofit/>
          </a:bodyPr>
          <a:lstStyle/>
          <a:p>
            <a:pPr>
              <a:buFont typeface="Wingdings" panose="05000000000000000000" pitchFamily="2" charset="2"/>
              <a:buChar char="§"/>
            </a:pPr>
            <a:r>
              <a:rPr kumimoji="0" lang="en-US" sz="3200" b="0" i="0" u="none" strike="noStrike" kern="1200" cap="none" spc="0" normalizeH="0" baseline="0" noProof="0" dirty="0">
                <a:ln>
                  <a:noFill/>
                </a:ln>
                <a:solidFill>
                  <a:srgbClr val="000000">
                    <a:lumMod val="75000"/>
                    <a:lumOff val="25000"/>
                  </a:srgbClr>
                </a:solidFill>
                <a:effectLst/>
                <a:uLnTx/>
                <a:uFillTx/>
                <a:latin typeface="Agency FB" panose="020B0503020202020204" pitchFamily="34" charset="0"/>
                <a:ea typeface="+mn-ea"/>
                <a:cs typeface="Agency FB" panose="020B0503020202020204" pitchFamily="34" charset="0"/>
              </a:rPr>
              <a:t>On the customer side, entrepreneurs struggle with low brand awareness and customer loyalty, both of which must be carefully cultivated </a:t>
            </a:r>
          </a:p>
          <a:p>
            <a:pPr>
              <a:buFont typeface="Wingdings" panose="05000000000000000000" pitchFamily="2" charset="2"/>
              <a:buChar char="§"/>
            </a:pPr>
            <a:r>
              <a:rPr lang="en-US" sz="3100" dirty="0">
                <a:latin typeface="Agency FB" panose="020B0503020202020204" pitchFamily="34" charset="0"/>
                <a:cs typeface="Agency FB" panose="020B0503020202020204" pitchFamily="34" charset="0"/>
                <a:sym typeface="+mn-ea"/>
              </a:rPr>
              <a:t>Not only is market information limited, but also decision making can be muddled by strong personal biases and beliefs. Early-stage companies often stumble in their marketing</a:t>
            </a:r>
            <a:r>
              <a:rPr lang="en-GB" altLang="en-US" sz="3100" dirty="0">
                <a:latin typeface="Agency FB" panose="020B0503020202020204" pitchFamily="34" charset="0"/>
                <a:cs typeface="Agency FB" panose="020B0503020202020204" pitchFamily="34" charset="0"/>
                <a:sym typeface="+mn-ea"/>
              </a:rPr>
              <a:t> </a:t>
            </a:r>
            <a:r>
              <a:rPr lang="en-US" sz="3100" dirty="0">
                <a:latin typeface="Agency FB" panose="020B0503020202020204" pitchFamily="34" charset="0"/>
                <a:cs typeface="Agency FB" panose="020B0503020202020204" pitchFamily="34" charset="0"/>
                <a:sym typeface="+mn-ea"/>
              </a:rPr>
              <a:t>because of a product focus that is excessively narrow.</a:t>
            </a:r>
            <a:endParaRPr lang="en-US" sz="3100" dirty="0">
              <a:latin typeface="Agency FB" panose="020B0503020202020204" pitchFamily="34" charset="0"/>
              <a:cs typeface="Agency FB" panose="020B0503020202020204" pitchFamily="34" charset="0"/>
            </a:endParaRPr>
          </a:p>
          <a:p>
            <a:pPr>
              <a:buFont typeface="Wingdings" panose="05000000000000000000" pitchFamily="2" charset="2"/>
              <a:buChar char="§"/>
            </a:pPr>
            <a:r>
              <a:rPr lang="en-US" sz="3100" dirty="0">
                <a:latin typeface="Agency FB" panose="020B0503020202020204" pitchFamily="34" charset="0"/>
                <a:cs typeface="Agency FB" panose="020B0503020202020204" pitchFamily="34" charset="0"/>
              </a:rPr>
              <a:t>Research has shown that common marketing-related dangers for entrepreneurs include overestimating demand, underestimating  competitor response, and making uninformed distribution decisions. </a:t>
            </a:r>
          </a:p>
          <a:p>
            <a:endParaRPr lang="en-US" sz="2400" dirty="0">
              <a:latin typeface="Agency FB" panose="020B0503020202020204" pitchFamily="34" charset="0"/>
              <a:cs typeface="Agency FB" panose="020B0503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6EBA9-E40B-C18D-68AA-9153E1C73FDC}"/>
              </a:ext>
            </a:extLst>
          </p:cNvPr>
          <p:cNvSpPr>
            <a:spLocks noGrp="1"/>
          </p:cNvSpPr>
          <p:nvPr>
            <p:ph type="title"/>
          </p:nvPr>
        </p:nvSpPr>
        <p:spPr/>
        <p:txBody>
          <a:bodyPr/>
          <a:lstStyle/>
          <a:p>
            <a:r>
              <a:rPr kumimoji="0" lang="fr-FR" sz="4800" b="1" i="0" u="none" strike="noStrike" kern="1200" cap="none" spc="-50" normalizeH="0" baseline="0" noProof="0" dirty="0">
                <a:ln>
                  <a:noFill/>
                </a:ln>
                <a:solidFill>
                  <a:srgbClr val="865640"/>
                </a:solidFill>
                <a:effectLst/>
                <a:uLnTx/>
                <a:uFillTx/>
                <a:latin typeface="Arial Black" panose="020B0A04020102020204" pitchFamily="34" charset="0"/>
                <a:ea typeface="+mj-ea"/>
                <a:cs typeface="Arial Black" panose="020B0A04020102020204" pitchFamily="34" charset="0"/>
              </a:rPr>
              <a:t>Entrepreneurs Face Unique Marketing Challenges </a:t>
            </a:r>
            <a:r>
              <a:rPr kumimoji="0" lang="fr-FR" sz="4800" b="1" i="0" u="none" strike="noStrike" kern="1200" cap="none" spc="-50" normalizeH="0" baseline="0" noProof="0" dirty="0" err="1">
                <a:ln>
                  <a:noFill/>
                </a:ln>
                <a:solidFill>
                  <a:srgbClr val="865640"/>
                </a:solidFill>
                <a:effectLst/>
                <a:uLnTx/>
                <a:uFillTx/>
                <a:latin typeface="Arial Black" panose="020B0A04020102020204" pitchFamily="34" charset="0"/>
                <a:ea typeface="+mj-ea"/>
                <a:cs typeface="Arial Black" panose="020B0A04020102020204" pitchFamily="34" charset="0"/>
              </a:rPr>
              <a:t>Cont’d</a:t>
            </a:r>
            <a:endParaRPr lang="en-US" dirty="0"/>
          </a:p>
        </p:txBody>
      </p:sp>
      <p:sp>
        <p:nvSpPr>
          <p:cNvPr id="3" name="Content Placeholder 2">
            <a:extLst>
              <a:ext uri="{FF2B5EF4-FFF2-40B4-BE49-F238E27FC236}">
                <a16:creationId xmlns:a16="http://schemas.microsoft.com/office/drawing/2014/main" id="{9FC72FA2-0AF5-41C0-AA57-94FB6CC45C16}"/>
              </a:ext>
            </a:extLst>
          </p:cNvPr>
          <p:cNvSpPr>
            <a:spLocks noGrp="1"/>
          </p:cNvSpPr>
          <p:nvPr>
            <p:ph idx="1"/>
          </p:nvPr>
        </p:nvSpPr>
        <p:spPr/>
        <p:txBody>
          <a:bodyPr/>
          <a:lstStyle/>
          <a:p>
            <a:endParaRPr kumimoji="0" lang="en-US" sz="3200" b="0" i="0" u="none" strike="noStrike" kern="1200" cap="none" spc="0" normalizeH="0" baseline="0" noProof="0" dirty="0">
              <a:ln>
                <a:noFill/>
              </a:ln>
              <a:solidFill>
                <a:srgbClr val="000000">
                  <a:lumMod val="75000"/>
                  <a:lumOff val="25000"/>
                </a:srgbClr>
              </a:solidFill>
              <a:effectLst/>
              <a:uLnTx/>
              <a:uFillTx/>
              <a:latin typeface="Agency FB" panose="020B0503020202020204" pitchFamily="34" charset="0"/>
              <a:ea typeface="+mn-ea"/>
              <a:cs typeface="Agency FB" panose="020B0503020202020204" pitchFamily="34" charset="0"/>
            </a:endParaRPr>
          </a:p>
          <a:p>
            <a:pPr>
              <a:buFont typeface="Wingdings" panose="05000000000000000000" pitchFamily="2" charset="2"/>
              <a:buChar char="§"/>
            </a:pPr>
            <a:r>
              <a:rPr lang="en-US" sz="3200" dirty="0">
                <a:latin typeface="Agency FB" panose="020B0503020202020204" pitchFamily="34" charset="0"/>
                <a:cs typeface="Agency FB" panose="020B0503020202020204" pitchFamily="34" charset="0"/>
              </a:rPr>
              <a:t>Entrepreneurs market to multiple audiences: investors, customers, employees, and business partners. Because none of these bonds is well established for early-stage companies, entrepreneurs must be both customer oriented and relationship oriented</a:t>
            </a:r>
          </a:p>
          <a:p>
            <a:endParaRPr lang="en-US" dirty="0"/>
          </a:p>
        </p:txBody>
      </p:sp>
    </p:spTree>
    <p:extLst>
      <p:ext uri="{BB962C8B-B14F-4D97-AF65-F5344CB8AC3E}">
        <p14:creationId xmlns:p14="http://schemas.microsoft.com/office/powerpoint/2010/main" val="33654509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Arial Black" panose="020B0A04020102020204" pitchFamily="34" charset="0"/>
                <a:cs typeface="Arial Black" panose="020B0A04020102020204" pitchFamily="34" charset="0"/>
              </a:rPr>
              <a:t>Marketing Strategy for Entrepreneurs</a:t>
            </a:r>
            <a:br>
              <a:rPr lang="en-US" dirty="0">
                <a:latin typeface="Arial Black" panose="020B0A04020102020204" pitchFamily="34" charset="0"/>
                <a:cs typeface="Arial Black" panose="020B0A04020102020204" pitchFamily="34" charset="0"/>
              </a:rPr>
            </a:br>
            <a:endParaRPr lang="en-US" dirty="0">
              <a:latin typeface="Arial Black" panose="020B0A04020102020204" pitchFamily="34" charset="0"/>
              <a:cs typeface="Arial Black" panose="020B0A04020102020204" pitchFamily="34" charset="0"/>
            </a:endParaRPr>
          </a:p>
        </p:txBody>
      </p:sp>
      <p:sp>
        <p:nvSpPr>
          <p:cNvPr id="3" name="Content Placeholder 2"/>
          <p:cNvSpPr>
            <a:spLocks noGrp="1"/>
          </p:cNvSpPr>
          <p:nvPr>
            <p:ph idx="1"/>
          </p:nvPr>
        </p:nvSpPr>
        <p:spPr/>
        <p:txBody>
          <a:bodyPr/>
          <a:lstStyle/>
          <a:p>
            <a:r>
              <a:rPr lang="en-US" sz="3200" b="1" i="1" dirty="0">
                <a:latin typeface="Agency FB" panose="020B0503020202020204" pitchFamily="34" charset="0"/>
                <a:cs typeface="Agency FB" panose="020B0503020202020204" pitchFamily="34" charset="0"/>
              </a:rPr>
              <a:t>Segmentation </a:t>
            </a:r>
            <a:r>
              <a:rPr lang="en-US" sz="3200" b="1" dirty="0">
                <a:latin typeface="Agency FB" panose="020B0503020202020204" pitchFamily="34" charset="0"/>
                <a:cs typeface="Agency FB" panose="020B0503020202020204" pitchFamily="34" charset="0"/>
              </a:rPr>
              <a:t>and </a:t>
            </a:r>
            <a:r>
              <a:rPr lang="en-US" sz="3200" b="1" i="1" dirty="0">
                <a:latin typeface="Agency FB" panose="020B0503020202020204" pitchFamily="34" charset="0"/>
                <a:cs typeface="Agency FB" panose="020B0503020202020204" pitchFamily="34" charset="0"/>
              </a:rPr>
              <a:t>targeting </a:t>
            </a:r>
            <a:r>
              <a:rPr lang="en-US" sz="3200" dirty="0">
                <a:latin typeface="Agency FB" panose="020B0503020202020204" pitchFamily="34" charset="0"/>
                <a:cs typeface="Agency FB" panose="020B0503020202020204" pitchFamily="34" charset="0"/>
              </a:rPr>
              <a:t>are the processes marketers use to identify the ‘‘right’’ customers for their company’s products and services.</a:t>
            </a:r>
          </a:p>
          <a:p>
            <a:endParaRPr lang="en-US" sz="3200" dirty="0">
              <a:latin typeface="Agency FB" panose="020B0503020202020204" pitchFamily="34" charset="0"/>
              <a:cs typeface="Agency FB" panose="020B0503020202020204" pitchFamily="34" charset="0"/>
            </a:endParaRPr>
          </a:p>
          <a:p>
            <a:r>
              <a:rPr lang="en-US" sz="3200" b="1" dirty="0">
                <a:latin typeface="Agency FB" panose="020B0503020202020204" pitchFamily="34" charset="0"/>
                <a:cs typeface="Agency FB" panose="020B0503020202020204" pitchFamily="34" charset="0"/>
              </a:rPr>
              <a:t>Targeting </a:t>
            </a:r>
            <a:r>
              <a:rPr lang="en-US" sz="3200" dirty="0">
                <a:latin typeface="Agency FB" panose="020B0503020202020204" pitchFamily="34" charset="0"/>
                <a:cs typeface="Agency FB" panose="020B0503020202020204" pitchFamily="34" charset="0"/>
              </a:rPr>
              <a:t>compares the deﬁned segments and then selects the most attractive one, which</a:t>
            </a:r>
            <a:r>
              <a:rPr lang="en-GB" altLang="en-US" sz="3200" dirty="0">
                <a:latin typeface="Agency FB" panose="020B0503020202020204" pitchFamily="34" charset="0"/>
                <a:cs typeface="Agency FB" panose="020B0503020202020204" pitchFamily="34" charset="0"/>
              </a:rPr>
              <a:t> </a:t>
            </a:r>
            <a:r>
              <a:rPr lang="en-US" sz="3200" dirty="0">
                <a:latin typeface="Agency FB" panose="020B0503020202020204" pitchFamily="34" charset="0"/>
                <a:cs typeface="Agency FB" panose="020B0503020202020204" pitchFamily="34" charset="0"/>
              </a:rPr>
              <a:t>becomes the PTA. Target market deﬁnition is essential because it guides your company’s</a:t>
            </a:r>
            <a:r>
              <a:rPr lang="en-US" sz="3200" i="1" dirty="0">
                <a:latin typeface="Agency FB" panose="020B0503020202020204" pitchFamily="34" charset="0"/>
                <a:cs typeface="Agency FB" panose="020B0503020202020204" pitchFamily="34" charset="0"/>
              </a:rPr>
              <a:t>customer selection </a:t>
            </a:r>
            <a:r>
              <a:rPr lang="en-US" sz="3200" dirty="0">
                <a:latin typeface="Agency FB" panose="020B0503020202020204" pitchFamily="34" charset="0"/>
                <a:cs typeface="Agency FB" panose="020B0503020202020204" pitchFamily="34" charset="0"/>
              </a:rPr>
              <a:t>strategy.</a:t>
            </a:r>
          </a:p>
          <a:p>
            <a:pPr marL="0" indent="0">
              <a:buNone/>
            </a:pPr>
            <a:endParaRPr lang="en-US" sz="3200" dirty="0">
              <a:latin typeface="Agency FB" panose="020B0503020202020204" pitchFamily="34" charset="0"/>
              <a:cs typeface="Agency FB" panose="020B050302020202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b="1">
                <a:solidFill>
                  <a:schemeClr val="accent3"/>
                </a:solidFill>
                <a:latin typeface="Arial Black" panose="020B0A04020102020204" pitchFamily="34" charset="0"/>
                <a:cs typeface="Arial Black" panose="020B0A04020102020204" pitchFamily="34" charset="0"/>
              </a:rPr>
              <a:t>Entrepreneurs Face Unique Marketing Challenges</a:t>
            </a:r>
            <a:endParaRPr lang="en-US" dirty="0">
              <a:latin typeface="Arial Black" panose="020B0A04020102020204" pitchFamily="34" charset="0"/>
              <a:cs typeface="Arial Black" panose="020B0A04020102020204" pitchFamily="34" charset="0"/>
            </a:endParaRPr>
          </a:p>
        </p:txBody>
      </p:sp>
      <p:sp>
        <p:nvSpPr>
          <p:cNvPr id="3" name="Content Placeholder 2"/>
          <p:cNvSpPr>
            <a:spLocks noGrp="1"/>
          </p:cNvSpPr>
          <p:nvPr>
            <p:ph idx="1"/>
          </p:nvPr>
        </p:nvSpPr>
        <p:spPr/>
        <p:txBody>
          <a:bodyPr/>
          <a:lstStyle/>
          <a:p>
            <a:pPr>
              <a:lnSpc>
                <a:spcPct val="150000"/>
              </a:lnSpc>
            </a:pPr>
            <a:r>
              <a:rPr lang="en-US" sz="3200" dirty="0">
                <a:latin typeface="Agency FB" panose="020B0503020202020204" pitchFamily="34" charset="0"/>
                <a:cs typeface="Agency FB" panose="020B0503020202020204" pitchFamily="34" charset="0"/>
              </a:rPr>
              <a:t>The marketing mix —the Four Ps of product, price, place, and promotion—is a set of tools</a:t>
            </a:r>
            <a:r>
              <a:rPr lang="en-GB" altLang="en-US" sz="3200" dirty="0">
                <a:latin typeface="Agency FB" panose="020B0503020202020204" pitchFamily="34" charset="0"/>
                <a:cs typeface="Agency FB" panose="020B0503020202020204" pitchFamily="34" charset="0"/>
              </a:rPr>
              <a:t>  </a:t>
            </a:r>
            <a:r>
              <a:rPr lang="en-US" sz="3200" dirty="0">
                <a:latin typeface="Agency FB" panose="020B0503020202020204" pitchFamily="34" charset="0"/>
                <a:cs typeface="Agency FB" panose="020B0503020202020204" pitchFamily="34" charset="0"/>
              </a:rPr>
              <a:t>your company can use to achieve its marketing goals. In fact, the marketing mix is so basic</a:t>
            </a:r>
            <a:r>
              <a:rPr lang="en-GB" altLang="en-US" sz="3200" dirty="0">
                <a:latin typeface="Agency FB" panose="020B0503020202020204" pitchFamily="34" charset="0"/>
                <a:cs typeface="Agency FB" panose="020B0503020202020204" pitchFamily="34" charset="0"/>
              </a:rPr>
              <a:t> t</a:t>
            </a:r>
            <a:r>
              <a:rPr lang="en-US" sz="3200" dirty="0">
                <a:latin typeface="Agency FB" panose="020B0503020202020204" pitchFamily="34" charset="0"/>
                <a:cs typeface="Agency FB" panose="020B0503020202020204" pitchFamily="34" charset="0"/>
              </a:rPr>
              <a:t>o a company’s business model that </a:t>
            </a:r>
            <a:r>
              <a:rPr lang="en-US" sz="3200" i="1" dirty="0">
                <a:latin typeface="Agency FB" panose="020B0503020202020204" pitchFamily="34" charset="0"/>
                <a:cs typeface="Agency FB" panose="020B0503020202020204" pitchFamily="34" charset="0"/>
              </a:rPr>
              <a:t>marketing </a:t>
            </a:r>
            <a:r>
              <a:rPr lang="en-US" sz="3200" dirty="0">
                <a:latin typeface="Agency FB" panose="020B0503020202020204" pitchFamily="34" charset="0"/>
                <a:cs typeface="Agency FB" panose="020B0503020202020204" pitchFamily="34" charset="0"/>
              </a:rPr>
              <a:t>strategy often deﬁnes company or corporate</a:t>
            </a:r>
            <a:r>
              <a:rPr lang="en-GB" altLang="en-US" sz="3200" dirty="0">
                <a:latin typeface="Agency FB" panose="020B0503020202020204" pitchFamily="34" charset="0"/>
                <a:cs typeface="Agency FB" panose="020B0503020202020204" pitchFamily="34" charset="0"/>
              </a:rPr>
              <a:t> </a:t>
            </a:r>
            <a:r>
              <a:rPr lang="en-US" sz="3200" dirty="0">
                <a:latin typeface="Agency FB" panose="020B0503020202020204" pitchFamily="34" charset="0"/>
                <a:cs typeface="Agency FB" panose="020B0503020202020204" pitchFamily="34" charset="0"/>
              </a:rPr>
              <a:t>strategy.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dirty="0">
                <a:latin typeface="Arial Black" panose="020B0A04020102020204" pitchFamily="34" charset="0"/>
                <a:ea typeface="+mn-ea"/>
                <a:cs typeface="Arial Black" panose="020B0A04020102020204" pitchFamily="34" charset="0"/>
                <a:sym typeface="+mn-ea"/>
              </a:rPr>
              <a:t>Guerrilla marketing</a:t>
            </a:r>
            <a:br>
              <a:rPr lang="en-US" sz="4400" dirty="0">
                <a:latin typeface="Arial Black" panose="020B0A04020102020204" pitchFamily="34" charset="0"/>
                <a:cs typeface="Arial Black" panose="020B0A04020102020204" pitchFamily="34" charset="0"/>
              </a:rPr>
            </a:br>
            <a:endParaRPr lang="en-US" sz="4400">
              <a:latin typeface="Arial Black" panose="020B0A04020102020204" pitchFamily="34" charset="0"/>
              <a:cs typeface="Arial Black" panose="020B0A04020102020204" pitchFamily="34" charset="0"/>
            </a:endParaRPr>
          </a:p>
        </p:txBody>
      </p:sp>
      <p:sp>
        <p:nvSpPr>
          <p:cNvPr id="3" name="Content Placeholder 2"/>
          <p:cNvSpPr>
            <a:spLocks noGrp="1"/>
          </p:cNvSpPr>
          <p:nvPr>
            <p:ph idx="1"/>
          </p:nvPr>
        </p:nvSpPr>
        <p:spPr/>
        <p:txBody>
          <a:bodyPr/>
          <a:lstStyle/>
          <a:p>
            <a:r>
              <a:rPr lang="en-US" sz="3600" dirty="0">
                <a:latin typeface="Agency FB" panose="020B0503020202020204" pitchFamily="34" charset="0"/>
                <a:cs typeface="Agency FB" panose="020B0503020202020204" pitchFamily="34" charset="0"/>
              </a:rPr>
              <a:t> Is marketing activities that are non traditional, grassroots, and captivating—that gain consumers’ attention and build awareness of the company. </a:t>
            </a:r>
          </a:p>
          <a:p>
            <a:r>
              <a:rPr lang="en-US" sz="3600" dirty="0">
                <a:latin typeface="Agency FB" panose="020B0503020202020204" pitchFamily="34" charset="0"/>
                <a:cs typeface="Agency FB" panose="020B0503020202020204" pitchFamily="34" charset="0"/>
              </a:rPr>
              <a:t>Guerrilla marketing is often linked to ‘‘creating a buzz’’ or generating a lot of word-of-mouth in the marketplace. </a:t>
            </a:r>
          </a:p>
          <a:p>
            <a:r>
              <a:rPr lang="en-US" sz="3600" dirty="0">
                <a:latin typeface="Agency FB" panose="020B0503020202020204" pitchFamily="34" charset="0"/>
                <a:cs typeface="Agency FB" panose="020B0503020202020204" pitchFamily="34" charset="0"/>
              </a:rPr>
              <a:t>The terms </a:t>
            </a:r>
            <a:r>
              <a:rPr lang="en-US" sz="3600" i="1" dirty="0">
                <a:latin typeface="Agency FB" panose="020B0503020202020204" pitchFamily="34" charset="0"/>
                <a:cs typeface="Agency FB" panose="020B0503020202020204" pitchFamily="34" charset="0"/>
              </a:rPr>
              <a:t>buzz, viral</a:t>
            </a:r>
            <a:r>
              <a:rPr lang="en-US" sz="3600" dirty="0">
                <a:latin typeface="Agency FB" panose="020B0503020202020204" pitchFamily="34" charset="0"/>
                <a:cs typeface="Agency FB" panose="020B0503020202020204" pitchFamily="34" charset="0"/>
              </a:rPr>
              <a:t>, and </a:t>
            </a:r>
            <a:r>
              <a:rPr lang="en-US" sz="3600" i="1" dirty="0">
                <a:latin typeface="Agency FB" panose="020B0503020202020204" pitchFamily="34" charset="0"/>
                <a:cs typeface="Agency FB" panose="020B0503020202020204" pitchFamily="34" charset="0"/>
              </a:rPr>
              <a:t>word-of-mouth marketing </a:t>
            </a:r>
            <a:r>
              <a:rPr lang="en-US" sz="3600" dirty="0">
                <a:latin typeface="Agency FB" panose="020B0503020202020204" pitchFamily="34" charset="0"/>
                <a:cs typeface="Agency FB" panose="020B0503020202020204" pitchFamily="34" charset="0"/>
              </a:rPr>
              <a:t>aren’t interchangeable..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400" b="1" dirty="0">
                <a:latin typeface="Arial Black" panose="020B0A04020102020204" pitchFamily="34" charset="0"/>
                <a:ea typeface="+mn-ea"/>
                <a:cs typeface="Arial Black" panose="020B0A04020102020204" pitchFamily="34" charset="0"/>
                <a:sym typeface="+mn-ea"/>
              </a:rPr>
              <a:t>Guerrilla marketing</a:t>
            </a:r>
            <a:br>
              <a:rPr lang="en-US" sz="4400" dirty="0">
                <a:latin typeface="Arial Black" panose="020B0A04020102020204" pitchFamily="34" charset="0"/>
                <a:cs typeface="Arial Black" panose="020B0A04020102020204" pitchFamily="34" charset="0"/>
                <a:sym typeface="+mn-ea"/>
              </a:rPr>
            </a:br>
            <a:endParaRPr lang="en-US"/>
          </a:p>
        </p:txBody>
      </p:sp>
      <p:sp>
        <p:nvSpPr>
          <p:cNvPr id="3" name="Content Placeholder 2"/>
          <p:cNvSpPr>
            <a:spLocks noGrp="1"/>
          </p:cNvSpPr>
          <p:nvPr>
            <p:ph idx="1"/>
          </p:nvPr>
        </p:nvSpPr>
        <p:spPr/>
        <p:txBody>
          <a:bodyPr>
            <a:normAutofit fontScale="25000" lnSpcReduction="20000"/>
          </a:bodyPr>
          <a:lstStyle/>
          <a:p>
            <a:pPr>
              <a:lnSpc>
                <a:spcPct val="90000"/>
              </a:lnSpc>
            </a:pPr>
            <a:r>
              <a:rPr lang="en-US" sz="11200" dirty="0">
                <a:latin typeface="Agency FB" panose="020B0503020202020204" pitchFamily="34" charset="0"/>
                <a:cs typeface="Agency FB" panose="020B0503020202020204" pitchFamily="34" charset="0"/>
              </a:rPr>
              <a:t> Guerrilla marketing is also attractive to entrepreneurs because often they have</a:t>
            </a:r>
          </a:p>
          <a:p>
            <a:pPr>
              <a:lnSpc>
                <a:spcPct val="90000"/>
              </a:lnSpc>
            </a:pPr>
            <a:r>
              <a:rPr lang="en-US" sz="11200" dirty="0">
                <a:latin typeface="Agency FB" panose="020B0503020202020204" pitchFamily="34" charset="0"/>
                <a:cs typeface="Agency FB" panose="020B0503020202020204" pitchFamily="34" charset="0"/>
              </a:rPr>
              <a:t>to work with a limited or nonexistent promotion budget and traditional media are very</a:t>
            </a:r>
          </a:p>
          <a:p>
            <a:pPr>
              <a:lnSpc>
                <a:spcPct val="90000"/>
              </a:lnSpc>
            </a:pPr>
            <a:r>
              <a:rPr lang="en-US" sz="11200" dirty="0">
                <a:latin typeface="Agency FB" panose="020B0503020202020204" pitchFamily="34" charset="0"/>
                <a:cs typeface="Agency FB" panose="020B0503020202020204" pitchFamily="34" charset="0"/>
              </a:rPr>
              <a:t>expensive. </a:t>
            </a:r>
          </a:p>
          <a:p>
            <a:pPr>
              <a:lnSpc>
                <a:spcPct val="150000"/>
              </a:lnSpc>
            </a:pPr>
            <a:r>
              <a:rPr lang="en-US" sz="11200" dirty="0">
                <a:latin typeface="Agency FB" panose="020B0503020202020204" pitchFamily="34" charset="0"/>
                <a:cs typeface="Agency FB" panose="020B0503020202020204" pitchFamily="34" charset="0"/>
              </a:rPr>
              <a:t>Unfortunately for entrepreneurs, such non traditional promotional methods are</a:t>
            </a:r>
            <a:r>
              <a:rPr lang="en-GB" altLang="en-US" sz="11200" dirty="0">
                <a:latin typeface="Agency FB" panose="020B0503020202020204" pitchFamily="34" charset="0"/>
                <a:cs typeface="Agency FB" panose="020B0503020202020204" pitchFamily="34" charset="0"/>
              </a:rPr>
              <a:t> </a:t>
            </a:r>
            <a:r>
              <a:rPr lang="en-US" sz="11200" dirty="0">
                <a:latin typeface="Agency FB" panose="020B0503020202020204" pitchFamily="34" charset="0"/>
                <a:cs typeface="Agency FB" panose="020B0503020202020204" pitchFamily="34" charset="0"/>
              </a:rPr>
              <a:t>getting the attention of big marketers, who want to break through the clutter of existing media.</a:t>
            </a:r>
          </a:p>
          <a:p>
            <a:pPr>
              <a:lnSpc>
                <a:spcPct val="150000"/>
              </a:lnSpc>
            </a:pPr>
            <a:r>
              <a:rPr lang="en-US" sz="11200" dirty="0">
                <a:latin typeface="Agency FB" panose="020B0503020202020204" pitchFamily="34" charset="0"/>
                <a:cs typeface="Agency FB" panose="020B0503020202020204" pitchFamily="34" charset="0"/>
              </a:rPr>
              <a:t> </a:t>
            </a:r>
          </a:p>
          <a:p>
            <a:r>
              <a:rPr lang="en-GB" dirty="0"/>
              <a:t>.</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latin typeface="Arial Black" panose="020B0A04020102020204" pitchFamily="34" charset="0"/>
                <a:ea typeface="+mn-ea"/>
                <a:cs typeface="Arial Black" panose="020B0A04020102020204" pitchFamily="34" charset="0"/>
                <a:sym typeface="+mn-ea"/>
              </a:rPr>
              <a:t>TYPES OF GUERRILLA MARKETING</a:t>
            </a:r>
            <a:br>
              <a:rPr lang="en-US" sz="4000" dirty="0">
                <a:latin typeface="Arial Black" panose="020B0A04020102020204" pitchFamily="34" charset="0"/>
                <a:cs typeface="Arial Black" panose="020B0A04020102020204" pitchFamily="34" charset="0"/>
              </a:rPr>
            </a:br>
            <a:endParaRPr lang="en-US" sz="4000">
              <a:latin typeface="Arial Black" panose="020B0A04020102020204" pitchFamily="34" charset="0"/>
              <a:cs typeface="Arial Black" panose="020B0A04020102020204" pitchFamily="34" charset="0"/>
            </a:endParaRPr>
          </a:p>
        </p:txBody>
      </p:sp>
      <p:sp>
        <p:nvSpPr>
          <p:cNvPr id="3" name="Content Placeholder 2"/>
          <p:cNvSpPr>
            <a:spLocks noGrp="1"/>
          </p:cNvSpPr>
          <p:nvPr>
            <p:ph idx="1"/>
          </p:nvPr>
        </p:nvSpPr>
        <p:spPr/>
        <p:txBody>
          <a:bodyPr>
            <a:noAutofit/>
          </a:bodyPr>
          <a:lstStyle/>
          <a:p>
            <a:pPr lvl="0"/>
            <a:r>
              <a:rPr lang="en-US" sz="3200" dirty="0">
                <a:gradFill>
                  <a:gsLst>
                    <a:gs pos="0">
                      <a:srgbClr val="14CD68"/>
                    </a:gs>
                    <a:gs pos="100000">
                      <a:srgbClr val="035C7D"/>
                    </a:gs>
                  </a:gsLst>
                  <a:lin scaled="0"/>
                </a:gradFill>
              </a:rPr>
              <a:t>Word-of-mouth marketing:</a:t>
            </a:r>
            <a:r>
              <a:rPr lang="en-US" sz="3200" dirty="0"/>
              <a:t> Giving people a reason to talk about your products and services and making it easier for that conversation to take place.</a:t>
            </a:r>
          </a:p>
          <a:p>
            <a:pPr lvl="0"/>
            <a:r>
              <a:rPr lang="en-US" sz="3200" dirty="0">
                <a:gradFill>
                  <a:gsLst>
                    <a:gs pos="0">
                      <a:srgbClr val="14CD68"/>
                    </a:gs>
                    <a:gs pos="100000">
                      <a:srgbClr val="035C7D"/>
                    </a:gs>
                  </a:gsLst>
                  <a:lin scaled="0"/>
                </a:gradFill>
              </a:rPr>
              <a:t>Buzz marketing: </a:t>
            </a:r>
            <a:r>
              <a:rPr lang="en-US" sz="3200" dirty="0"/>
              <a:t>Using high-proﬁle entertainment or news to get people to talk about your brand.</a:t>
            </a:r>
          </a:p>
          <a:p>
            <a:pPr lvl="0"/>
            <a:r>
              <a:rPr lang="en-US" sz="3200">
                <a:gradFill>
                  <a:gsLst>
                    <a:gs pos="0">
                      <a:srgbClr val="14CD68"/>
                    </a:gs>
                    <a:gs pos="100000">
                      <a:srgbClr val="035C7D"/>
                    </a:gs>
                  </a:gsLst>
                  <a:lin scaled="0"/>
                </a:gradFill>
              </a:rPr>
              <a:t>Viral marketing: </a:t>
            </a:r>
            <a:r>
              <a:rPr lang="en-US" sz="3200"/>
              <a:t>Creating entertaining or informative messages that are designed to be passed along in an exponential fashion, often electronically</a:t>
            </a:r>
          </a:p>
          <a:p>
            <a:endParaRPr lang="en-US" sz="32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Marketing Skills Needed by Entrepreneurs for Managing Growth</a:t>
            </a:r>
          </a:p>
        </p:txBody>
      </p:sp>
      <p:sp>
        <p:nvSpPr>
          <p:cNvPr id="3" name="Content Placeholder 2"/>
          <p:cNvSpPr>
            <a:spLocks noGrp="1"/>
          </p:cNvSpPr>
          <p:nvPr>
            <p:ph idx="1"/>
          </p:nvPr>
        </p:nvSpPr>
        <p:spPr/>
        <p:txBody>
          <a:bodyPr/>
          <a:lstStyle/>
          <a:p>
            <a:r>
              <a:rPr lang="en-GB" altLang="en-US" sz="4000">
                <a:latin typeface="Agency FB" panose="020B0503020202020204" pitchFamily="34" charset="0"/>
                <a:cs typeface="Agency FB" panose="020B0503020202020204" pitchFamily="34" charset="0"/>
              </a:rPr>
              <a:t>Two key areas for you to focus on are: </a:t>
            </a:r>
          </a:p>
          <a:p>
            <a:pPr>
              <a:buFont typeface="Arial" panose="020B0604020202020204" pitchFamily="34" charset="0"/>
              <a:buChar char="•"/>
            </a:pPr>
            <a:r>
              <a:rPr lang="en-GB" altLang="en-US" sz="4000">
                <a:latin typeface="Agency FB" panose="020B0503020202020204" pitchFamily="34" charset="0"/>
                <a:cs typeface="Agency FB" panose="020B0503020202020204" pitchFamily="34" charset="0"/>
              </a:rPr>
              <a:t>understanding and listening to customers and</a:t>
            </a:r>
          </a:p>
          <a:p>
            <a:pPr>
              <a:buFont typeface="Arial" panose="020B0604020202020204" pitchFamily="34" charset="0"/>
              <a:buChar char="•"/>
            </a:pPr>
            <a:r>
              <a:rPr lang="en-GB" altLang="en-US" sz="4000">
                <a:latin typeface="Agency FB" panose="020B0503020202020204" pitchFamily="34" charset="0"/>
                <a:cs typeface="Agency FB" panose="020B0503020202020204" pitchFamily="34" charset="0"/>
              </a:rPr>
              <a:t>building a visible and enduring brand..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Understanding and Listening to the Customer</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GB" altLang="en-US" sz="3200" dirty="0">
                <a:latin typeface="New Times Roman"/>
                <a:cs typeface="Agency FB" panose="020B0503020202020204" pitchFamily="34" charset="0"/>
              </a:rPr>
              <a:t>Entrepreneurs must obtain information that will allow them to understand consumer buying </a:t>
            </a:r>
            <a:r>
              <a:rPr lang="en-GB" altLang="en-US" sz="3200" dirty="0" err="1">
                <a:latin typeface="New Times Roman"/>
                <a:cs typeface="Agency FB" panose="020B0503020202020204" pitchFamily="34" charset="0"/>
              </a:rPr>
              <a:t>behavior</a:t>
            </a:r>
            <a:r>
              <a:rPr lang="en-GB" altLang="en-US" sz="3200" dirty="0">
                <a:latin typeface="New Times Roman"/>
                <a:cs typeface="Agency FB" panose="020B0503020202020204" pitchFamily="34" charset="0"/>
              </a:rPr>
              <a:t> and customer expectations related to product design, pricing, and distribution. </a:t>
            </a:r>
          </a:p>
          <a:p>
            <a:pPr>
              <a:buFont typeface="Wingdings" panose="05000000000000000000" pitchFamily="2" charset="2"/>
              <a:buChar char="§"/>
            </a:pPr>
            <a:r>
              <a:rPr lang="en-GB" altLang="en-US" sz="3200" dirty="0">
                <a:latin typeface="New Times Roman"/>
                <a:cs typeface="Agency FB" panose="020B0503020202020204" pitchFamily="34" charset="0"/>
              </a:rPr>
              <a:t>They also need information about the best way to communicate with customers and inﬂuence their actions.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dirty="0"/>
              <a:t>Understanding and Listening to the </a:t>
            </a:r>
            <a:r>
              <a:rPr lang="en-GB" altLang="en-US"/>
              <a:t>Customer cont’d</a:t>
            </a:r>
            <a:endParaRPr lang="en-US"/>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GB" altLang="en-US" sz="3200" dirty="0">
                <a:latin typeface="New Times Roman"/>
                <a:cs typeface="Agency FB" panose="020B0503020202020204" pitchFamily="34" charset="0"/>
              </a:rPr>
              <a:t>Finally, they need information about the effectiveness of their own marketing activities so they can continue to reﬁne them. </a:t>
            </a:r>
          </a:p>
          <a:p>
            <a:pPr>
              <a:buFont typeface="Wingdings" panose="05000000000000000000" pitchFamily="2" charset="2"/>
              <a:buChar char="§"/>
            </a:pPr>
            <a:r>
              <a:rPr lang="en-GB" altLang="en-US" sz="3200" dirty="0">
                <a:latin typeface="New Times Roman"/>
                <a:cs typeface="Agency FB" panose="020B0503020202020204" pitchFamily="34" charset="0"/>
              </a:rPr>
              <a:t>Marketers build relationships in part by using information to customize the marketing mix. Good entrepreneurial marketers do whatever it takes to build relationships with customers.</a:t>
            </a:r>
          </a:p>
          <a:p>
            <a:endParaRPr lang="en-US" sz="3200" dirty="0">
              <a:latin typeface="New Times Roman"/>
            </a:endParaRPr>
          </a:p>
        </p:txBody>
      </p:sp>
    </p:spTree>
    <p:extLst>
      <p:ext uri="{BB962C8B-B14F-4D97-AF65-F5344CB8AC3E}">
        <p14:creationId xmlns:p14="http://schemas.microsoft.com/office/powerpoint/2010/main" val="31587546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en-US">
                <a:latin typeface="Arial Black" panose="020B0A04020102020204" pitchFamily="34" charset="0"/>
                <a:cs typeface="Arial Black" panose="020B0A04020102020204" pitchFamily="34" charset="0"/>
                <a:sym typeface="+mn-ea"/>
              </a:rPr>
              <a:t>Building the Brand</a:t>
            </a:r>
            <a:br>
              <a:rPr lang="en-GB" altLang="en-US">
                <a:latin typeface="Arial Black" panose="020B0A04020102020204" pitchFamily="34" charset="0"/>
                <a:cs typeface="Arial Black" panose="020B0A04020102020204" pitchFamily="34" charset="0"/>
              </a:rPr>
            </a:br>
            <a:endParaRPr lang="en-GB" altLang="en-US">
              <a:latin typeface="Arial Black" panose="020B0A04020102020204" pitchFamily="34" charset="0"/>
              <a:cs typeface="Arial Black" panose="020B0A04020102020204" pitchFamily="34" charset="0"/>
            </a:endParaRPr>
          </a:p>
        </p:txBody>
      </p:sp>
      <p:sp>
        <p:nvSpPr>
          <p:cNvPr id="3" name="Content Placeholder 2"/>
          <p:cNvSpPr>
            <a:spLocks noGrp="1"/>
          </p:cNvSpPr>
          <p:nvPr>
            <p:ph idx="1"/>
          </p:nvPr>
        </p:nvSpPr>
        <p:spPr/>
        <p:txBody>
          <a:bodyPr>
            <a:noAutofit/>
          </a:bodyPr>
          <a:lstStyle/>
          <a:p>
            <a:r>
              <a:rPr lang="en-GB" altLang="en-US" sz="4000">
                <a:latin typeface="Agency FB" panose="020B0503020202020204" pitchFamily="34" charset="0"/>
                <a:cs typeface="Agency FB" panose="020B0503020202020204" pitchFamily="34" charset="0"/>
              </a:rPr>
              <a:t>All entrepreneurs face the need for brand building, which is the dual task of building brand awareness and building brand equity. Brand awareness is the customer’s ability to recognize and recall the brand when provided a cue. </a:t>
            </a:r>
          </a:p>
          <a:p>
            <a:r>
              <a:rPr lang="en-GB" altLang="en-US" sz="4000">
                <a:latin typeface="Agency FB" panose="020B0503020202020204" pitchFamily="34" charset="0"/>
                <a:cs typeface="Agency FB" panose="020B0503020202020204" pitchFamily="34" charset="0"/>
              </a:rPr>
              <a:t>Marketing practices that create brand awareness also help shape brand image, which is the way customers perceive the brand.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latin typeface="Arial Black" panose="020B0A04020102020204" pitchFamily="34" charset="0"/>
                <a:cs typeface="Arial Black" panose="020B0A04020102020204" pitchFamily="34" charset="0"/>
              </a:rPr>
              <a:t>Brand Equity</a:t>
            </a:r>
          </a:p>
        </p:txBody>
      </p:sp>
      <p:sp>
        <p:nvSpPr>
          <p:cNvPr id="3" name="Content Placeholder 2"/>
          <p:cNvSpPr>
            <a:spLocks noGrp="1"/>
          </p:cNvSpPr>
          <p:nvPr>
            <p:ph idx="1"/>
          </p:nvPr>
        </p:nvSpPr>
        <p:spPr/>
        <p:txBody>
          <a:bodyPr/>
          <a:lstStyle/>
          <a:p>
            <a:r>
              <a:rPr lang="en-GB" altLang="en-US" sz="4400">
                <a:latin typeface="Agency FB" panose="020B0503020202020204" pitchFamily="34" charset="0"/>
                <a:cs typeface="Agency FB" panose="020B0503020202020204" pitchFamily="34" charset="0"/>
                <a:sym typeface="+mn-ea"/>
              </a:rPr>
              <a:t>Brand equity is the effect of brand awareness and brand image on customer response to the brand. It is brand equity, for example, that spurs consumers to pay a premium price for a brand—a price that exceeds the value of the product’s tangible attributes. Brand equity can be positive or negative. </a:t>
            </a:r>
            <a:endParaRPr lang="en-GB" altLang="en-US" sz="4400">
              <a:latin typeface="Agency FB" panose="020B0503020202020204" pitchFamily="34" charset="0"/>
              <a:cs typeface="Agency FB" panose="020B0503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en-US">
                <a:latin typeface="Arial Black" panose="020B0A04020102020204" pitchFamily="34" charset="0"/>
                <a:cs typeface="Arial Black" panose="020B0A04020102020204" pitchFamily="34" charset="0"/>
                <a:sym typeface="+mn-ea"/>
              </a:rPr>
              <a:t>Brand Equity</a:t>
            </a:r>
            <a:br>
              <a:rPr lang="en-GB" altLang="en-US">
                <a:latin typeface="Arial Black" panose="020B0A04020102020204" pitchFamily="34" charset="0"/>
                <a:cs typeface="Arial Black" panose="020B0A04020102020204" pitchFamily="34" charset="0"/>
              </a:rPr>
            </a:br>
            <a:endParaRPr lang="en-GB" altLang="en-US"/>
          </a:p>
        </p:txBody>
      </p:sp>
      <p:sp>
        <p:nvSpPr>
          <p:cNvPr id="3" name="Content Placeholder 2"/>
          <p:cNvSpPr>
            <a:spLocks noGrp="1"/>
          </p:cNvSpPr>
          <p:nvPr>
            <p:ph idx="1"/>
          </p:nvPr>
        </p:nvSpPr>
        <p:spPr/>
        <p:txBody>
          <a:bodyPr>
            <a:noAutofit/>
          </a:bodyPr>
          <a:lstStyle/>
          <a:p>
            <a:r>
              <a:rPr lang="en-GB" altLang="en-US" sz="4400">
                <a:latin typeface="Agency FB" panose="020B0503020202020204" pitchFamily="34" charset="0"/>
                <a:cs typeface="Agency FB" panose="020B0503020202020204" pitchFamily="34" charset="0"/>
                <a:sym typeface="+mn-ea"/>
              </a:rPr>
              <a:t>Positive brand equity is the degree of marketing advantage a brand would hold over an unnamed competitor. Negative brand equity is the disadvantage linked to a speciﬁc brand. Brand building is closely linked to a company’s communications strategy. </a:t>
            </a:r>
          </a:p>
          <a:p>
            <a:endParaRPr lang="en-GB" altLang="en-US" sz="4400">
              <a:latin typeface="Agency FB" panose="020B0503020202020204" pitchFamily="34" charset="0"/>
              <a:cs typeface="Agency FB" panose="020B0503020202020204" pitchFamily="34" charset="0"/>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ltLang="en-US">
                <a:latin typeface="Arial Black" panose="020B0A04020102020204" pitchFamily="34" charset="0"/>
                <a:cs typeface="Arial Black" panose="020B0A04020102020204" pitchFamily="34" charset="0"/>
                <a:sym typeface="+mn-ea"/>
              </a:rPr>
              <a:t>Brand Equity</a:t>
            </a:r>
            <a:br>
              <a:rPr lang="en-GB" altLang="en-US">
                <a:latin typeface="Arial Black" panose="020B0A04020102020204" pitchFamily="34" charset="0"/>
                <a:cs typeface="Arial Black" panose="020B0A04020102020204" pitchFamily="34" charset="0"/>
              </a:rPr>
            </a:br>
            <a:endParaRPr lang="en-GB" altLang="en-US"/>
          </a:p>
        </p:txBody>
      </p:sp>
      <p:sp>
        <p:nvSpPr>
          <p:cNvPr id="3" name="Content Placeholder 2"/>
          <p:cNvSpPr>
            <a:spLocks noGrp="1"/>
          </p:cNvSpPr>
          <p:nvPr>
            <p:ph idx="1"/>
          </p:nvPr>
        </p:nvSpPr>
        <p:spPr/>
        <p:txBody>
          <a:bodyPr/>
          <a:lstStyle/>
          <a:p>
            <a:r>
              <a:rPr lang="en-GB" altLang="en-US" sz="4000">
                <a:latin typeface="Agency FB" panose="020B0503020202020204" pitchFamily="34" charset="0"/>
                <a:cs typeface="Agency FB" panose="020B0503020202020204" pitchFamily="34" charset="0"/>
                <a:sym typeface="+mn-ea"/>
              </a:rPr>
              <a:t>While brand awareness is created through sheer exposure to a brand—through advertising or publicity—brand image is shaped by how a company projects its identity through its products, communications, and employees. The customer’s actual experience with the brand also has a strong effect on brand image.</a:t>
            </a:r>
            <a:endParaRPr lang="en-GB" altLang="en-US" sz="4000">
              <a:latin typeface="Agency FB" panose="020B0503020202020204" pitchFamily="34" charset="0"/>
              <a:cs typeface="Agency FB" panose="020B0503020202020204" pitchFamily="34" charset="0"/>
            </a:endParaRPr>
          </a:p>
          <a:p>
            <a:endParaRPr lang="en-GB" altLang="en-US" sz="4000">
              <a:latin typeface="Agency FB" panose="020B0503020202020204" pitchFamily="34" charset="0"/>
              <a:cs typeface="Agency FB" panose="020B0503020202020204" pitchFamily="34" charset="0"/>
            </a:endParaRPr>
          </a:p>
          <a:p>
            <a:endParaRPr lang="en-GB" altLang="en-US" sz="4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9BD1B-EFDD-CA51-2B80-12CBF22AA5B1}"/>
              </a:ext>
            </a:extLst>
          </p:cNvPr>
          <p:cNvSpPr>
            <a:spLocks noGrp="1"/>
          </p:cNvSpPr>
          <p:nvPr>
            <p:ph type="title"/>
          </p:nvPr>
        </p:nvSpPr>
        <p:spPr/>
        <p:txBody>
          <a:bodyPr/>
          <a:lstStyle/>
          <a:p>
            <a:r>
              <a:rPr lang="en-US" dirty="0"/>
              <a:t> E- Commerce Marketing Practices</a:t>
            </a:r>
          </a:p>
        </p:txBody>
      </p:sp>
      <p:sp>
        <p:nvSpPr>
          <p:cNvPr id="3" name="Content Placeholder 2">
            <a:extLst>
              <a:ext uri="{FF2B5EF4-FFF2-40B4-BE49-F238E27FC236}">
                <a16:creationId xmlns:a16="http://schemas.microsoft.com/office/drawing/2014/main" id="{8BE8A153-CFC6-4251-CEEA-F327E0479B76}"/>
              </a:ext>
            </a:extLst>
          </p:cNvPr>
          <p:cNvSpPr>
            <a:spLocks noGrp="1"/>
          </p:cNvSpPr>
          <p:nvPr>
            <p:ph idx="1"/>
          </p:nvPr>
        </p:nvSpPr>
        <p:spPr/>
        <p:txBody>
          <a:bodyPr/>
          <a:lstStyle/>
          <a:p>
            <a:r>
              <a:rPr lang="en-US" dirty="0"/>
              <a:t> </a:t>
            </a:r>
            <a:r>
              <a:rPr lang="en-US" sz="3200" dirty="0">
                <a:latin typeface="Agency FB" panose="020B0503020202020204" pitchFamily="34" charset="0"/>
              </a:rPr>
              <a:t>E- business describes the use of electronic means and platforms to conduct a company’s business</a:t>
            </a:r>
          </a:p>
          <a:p>
            <a:r>
              <a:rPr lang="en-US" sz="3200" dirty="0">
                <a:latin typeface="Agency FB" panose="020B0503020202020204" pitchFamily="34" charset="0"/>
              </a:rPr>
              <a:t>E- commerce means that the company or site offers to transact or  facilitate the selling of products and services</a:t>
            </a:r>
          </a:p>
          <a:p>
            <a:pPr marL="0" indent="0">
              <a:buNone/>
            </a:pPr>
            <a:r>
              <a:rPr lang="en-US" sz="3200" dirty="0">
                <a:latin typeface="Agency FB" panose="020B0503020202020204" pitchFamily="34" charset="0"/>
              </a:rPr>
              <a:t> E- Marketing describes company efforts to inform buyers, communicate, promote, and sell its products and services  over the internet</a:t>
            </a:r>
          </a:p>
        </p:txBody>
      </p:sp>
    </p:spTree>
    <p:extLst>
      <p:ext uri="{BB962C8B-B14F-4D97-AF65-F5344CB8AC3E}">
        <p14:creationId xmlns:p14="http://schemas.microsoft.com/office/powerpoint/2010/main" val="1360600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BAE0B-A0AC-03FB-E1DB-551F220A223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E7D1B31-F8ED-DB6C-D756-3C533C473BEB}"/>
              </a:ext>
            </a:extLst>
          </p:cNvPr>
          <p:cNvSpPr>
            <a:spLocks noGrp="1"/>
          </p:cNvSpPr>
          <p:nvPr>
            <p:ph idx="1"/>
          </p:nvPr>
        </p:nvSpPr>
        <p:spPr/>
        <p:txBody>
          <a:bodyPr/>
          <a:lstStyle/>
          <a:p>
            <a:r>
              <a:rPr lang="en-US" dirty="0"/>
              <a:t>Online retail sales have exploded, growing at 30% per year. Online retailers can  predictably provide convenient, informative, and personalized experiences for vastly different </a:t>
            </a:r>
            <a:r>
              <a:rPr lang="en-US" dirty="0" err="1"/>
              <a:t>typs</a:t>
            </a:r>
            <a:r>
              <a:rPr lang="en-US" dirty="0"/>
              <a:t> of customers and businesses. By not having to bear the cost of maintaining retail floor </a:t>
            </a:r>
            <a:r>
              <a:rPr lang="en-US" err="1"/>
              <a:t>space</a:t>
            </a:r>
            <a:r>
              <a:rPr lang="en-US"/>
              <a:t>, staff</a:t>
            </a:r>
            <a:r>
              <a:rPr lang="en-US" dirty="0"/>
              <a:t>, </a:t>
            </a:r>
            <a:r>
              <a:rPr lang="en-US"/>
              <a:t>and inventory</a:t>
            </a:r>
            <a:r>
              <a:rPr lang="en-US" dirty="0"/>
              <a:t>; on line retailers can sell low- volume products to niche markets</a:t>
            </a:r>
          </a:p>
        </p:txBody>
      </p:sp>
    </p:spTree>
    <p:extLst>
      <p:ext uri="{BB962C8B-B14F-4D97-AF65-F5344CB8AC3E}">
        <p14:creationId xmlns:p14="http://schemas.microsoft.com/office/powerpoint/2010/main" val="15627567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ltLang="en-US"/>
              <a:t>Conclusion</a:t>
            </a:r>
          </a:p>
        </p:txBody>
      </p:sp>
      <p:sp>
        <p:nvSpPr>
          <p:cNvPr id="3" name="Content Placeholder 2"/>
          <p:cNvSpPr>
            <a:spLocks noGrp="1"/>
          </p:cNvSpPr>
          <p:nvPr>
            <p:ph idx="1"/>
          </p:nvPr>
        </p:nvSpPr>
        <p:spPr/>
        <p:txBody>
          <a:bodyPr/>
          <a:lstStyle/>
          <a:p>
            <a:r>
              <a:rPr lang="en-GB" sz="2700" dirty="0">
                <a:solidFill>
                  <a:sysClr val="windowText" lastClr="000000"/>
                </a:solidFill>
                <a:latin typeface="Lucida Sans Unicode" panose="020B0602030504020204" charset="0"/>
                <a:ea typeface="+mn-ea"/>
                <a:cs typeface="+mn-ea"/>
                <a:sym typeface="+mn-ea"/>
              </a:rPr>
              <a:t> Every entrepreneurial company has no choice but to focus on sales ad marketing. Most of the great leaders –military, business, government and</a:t>
            </a:r>
            <a:endParaRPr lang="en-GB" dirty="0"/>
          </a:p>
          <a:p>
            <a:r>
              <a:rPr lang="en-GB" sz="2700" dirty="0">
                <a:solidFill>
                  <a:sysClr val="windowText" lastClr="000000"/>
                </a:solidFill>
                <a:latin typeface="Lucida Sans Unicode" panose="020B0602030504020204" charset="0"/>
                <a:ea typeface="+mn-ea"/>
                <a:cs typeface="+mn-ea"/>
                <a:sym typeface="+mn-ea"/>
              </a:rPr>
              <a:t> Entrepreneurs'- are great sales and marketing people. Great product concepts are one thing; great product successes are another. The difference usually centres on sales and marketing. The magic may be the brand, but the carpet is the sales force. Your brand can’t fly without it’’</a:t>
            </a:r>
            <a:endParaRPr lang="en-GB" dirty="0"/>
          </a:p>
          <a:p>
            <a:endParaRPr lang="en-GB"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ltLang="en-US"/>
          </a:p>
        </p:txBody>
      </p:sp>
      <p:sp>
        <p:nvSpPr>
          <p:cNvPr id="3" name="Content Placeholder 2"/>
          <p:cNvSpPr>
            <a:spLocks noGrp="1"/>
          </p:cNvSpPr>
          <p:nvPr>
            <p:ph idx="1"/>
          </p:nvPr>
        </p:nvSpPr>
        <p:spPr/>
        <p:txBody>
          <a:bodyPr/>
          <a:lstStyle/>
          <a:p>
            <a:r>
              <a:rPr lang="en-GB" altLang="en-US"/>
              <a:t> </a:t>
            </a:r>
          </a:p>
        </p:txBody>
      </p:sp>
      <p:sp>
        <p:nvSpPr>
          <p:cNvPr id="4" name="Content Placeholder 1"/>
          <p:cNvSpPr>
            <a:spLocks noGrp="1"/>
          </p:cNvSpPr>
          <p:nvPr/>
        </p:nvSpPr>
        <p:spPr>
          <a:xfrm rot="20206941">
            <a:off x="1515612" y="3106974"/>
            <a:ext cx="5050512" cy="1251080"/>
          </a:xfrm>
          <a:prstGeom prst="rect">
            <a:avLst/>
          </a:prstGeom>
        </p:spPr>
        <p:txBody>
          <a:bodyPr vert="horz">
            <a:normAutofit/>
            <a:scene3d>
              <a:camera prst="isometricLeftDown"/>
              <a:lightRig rig="threePt" dir="t"/>
            </a:scene3d>
          </a:bodyPr>
          <a:lstStyle>
            <a:lvl1pPr marL="365760" indent="-255905" algn="l" rtl="0" eaLnBrk="1" latinLnBrk="0" hangingPunct="1">
              <a:spcBef>
                <a:spcPts val="400"/>
              </a:spcBef>
              <a:spcAft>
                <a:spcPts val="0"/>
              </a:spcAft>
              <a:buClr>
                <a:srgbClr val="2DA2BF"/>
              </a:buClr>
              <a:buSzPct val="68000"/>
              <a:buFont typeface="Wingdings 3" panose="05040102010807070707"/>
              <a:buChar char=""/>
              <a:defRPr kumimoji="0" sz="2700" kern="1200">
                <a:solidFill>
                  <a:sysClr val="windowText" lastClr="000000"/>
                </a:solidFill>
                <a:latin typeface="Lucida Sans Unicode" panose="020B0602030504020204" charset="0"/>
                <a:ea typeface="+mn-ea"/>
                <a:cs typeface="+mn-ea"/>
              </a:defRPr>
            </a:lvl1pPr>
            <a:lvl2pPr marL="621665" indent="-228600" algn="l" rtl="0" eaLnBrk="1" latinLnBrk="0" hangingPunct="1">
              <a:spcBef>
                <a:spcPts val="325"/>
              </a:spcBef>
              <a:buClr>
                <a:srgbClr val="2DA2BF"/>
              </a:buClr>
              <a:buFont typeface="Verdana" panose="020B0604030504040204"/>
              <a:buChar char="◦"/>
              <a:defRPr kumimoji="0" sz="2300" kern="1200">
                <a:solidFill>
                  <a:sysClr val="windowText" lastClr="000000"/>
                </a:solidFill>
                <a:latin typeface="Lucida Sans Unicode" panose="020B0602030504020204" charset="0"/>
                <a:ea typeface="+mn-ea"/>
                <a:cs typeface="+mn-ea"/>
              </a:defRPr>
            </a:lvl2pPr>
            <a:lvl3pPr marL="859790" indent="-228600" algn="l" rtl="0" eaLnBrk="1" latinLnBrk="0" hangingPunct="1">
              <a:spcBef>
                <a:spcPts val="350"/>
              </a:spcBef>
              <a:buClr>
                <a:srgbClr val="DA1F28"/>
              </a:buClr>
              <a:buSzPct val="100000"/>
              <a:buFont typeface="Wingdings 2" panose="05020102010507070707"/>
              <a:buChar char=""/>
              <a:defRPr kumimoji="0" sz="2100" kern="1200">
                <a:solidFill>
                  <a:sysClr val="windowText" lastClr="000000"/>
                </a:solidFill>
                <a:latin typeface="Lucida Sans Unicode" panose="020B0602030504020204" charset="0"/>
                <a:ea typeface="+mn-ea"/>
                <a:cs typeface="+mn-ea"/>
              </a:defRPr>
            </a:lvl3pPr>
            <a:lvl4pPr marL="1143000" indent="-228600" algn="l" rtl="0" eaLnBrk="1" latinLnBrk="0" hangingPunct="1">
              <a:spcBef>
                <a:spcPts val="350"/>
              </a:spcBef>
              <a:buClr>
                <a:srgbClr val="DA1F28"/>
              </a:buClr>
              <a:buFont typeface="Wingdings 2" panose="05020102010507070707"/>
              <a:buChar char=""/>
              <a:defRPr kumimoji="0" sz="1900" kern="1200">
                <a:solidFill>
                  <a:sysClr val="windowText" lastClr="000000"/>
                </a:solidFill>
                <a:latin typeface="Lucida Sans Unicode" panose="020B0602030504020204" charset="0"/>
                <a:ea typeface="+mn-ea"/>
                <a:cs typeface="+mn-ea"/>
              </a:defRPr>
            </a:lvl4pPr>
            <a:lvl5pPr marL="1371600" indent="-228600" algn="l" rtl="0" eaLnBrk="1" latinLnBrk="0" hangingPunct="1">
              <a:spcBef>
                <a:spcPts val="350"/>
              </a:spcBef>
              <a:buClr>
                <a:srgbClr val="DA1F28"/>
              </a:buClr>
              <a:buFont typeface="Wingdings 2" panose="05020102010507070707"/>
              <a:buChar char=""/>
              <a:defRPr kumimoji="0" sz="1800" kern="1200">
                <a:solidFill>
                  <a:sysClr val="windowText" lastClr="000000"/>
                </a:solidFill>
                <a:latin typeface="Lucida Sans Unicode" panose="020B0602030504020204" charset="0"/>
                <a:ea typeface="+mn-ea"/>
                <a:cs typeface="+mn-ea"/>
              </a:defRPr>
            </a:lvl5pPr>
            <a:lvl6pPr marL="1600200" indent="-228600" algn="l" rtl="0" eaLnBrk="1" latinLnBrk="0" hangingPunct="1">
              <a:spcBef>
                <a:spcPts val="350"/>
              </a:spcBef>
              <a:buClr>
                <a:srgbClr val="EB641B"/>
              </a:buClr>
              <a:buFont typeface="Wingdings 2" panose="05020102010507070707"/>
              <a:buChar char=""/>
              <a:defRPr kumimoji="0" sz="1800" kern="1200">
                <a:solidFill>
                  <a:sysClr val="windowText" lastClr="000000"/>
                </a:solidFill>
                <a:latin typeface="Lucida Sans Unicode" panose="020B0602030504020204" charset="0"/>
                <a:ea typeface="+mn-ea"/>
                <a:cs typeface="+mn-ea"/>
              </a:defRPr>
            </a:lvl6pPr>
            <a:lvl7pPr marL="1828800" indent="-228600" algn="l" rtl="0" eaLnBrk="1" latinLnBrk="0" hangingPunct="1">
              <a:spcBef>
                <a:spcPts val="350"/>
              </a:spcBef>
              <a:buClr>
                <a:srgbClr val="EB641B"/>
              </a:buClr>
              <a:buFont typeface="Wingdings 2" panose="05020102010507070707"/>
              <a:buChar char=""/>
              <a:defRPr kumimoji="0" sz="1600" kern="1200">
                <a:solidFill>
                  <a:sysClr val="windowText" lastClr="000000"/>
                </a:solidFill>
                <a:latin typeface="Lucida Sans Unicode" panose="020B0602030504020204" charset="0"/>
                <a:ea typeface="+mn-ea"/>
                <a:cs typeface="+mn-ea"/>
              </a:defRPr>
            </a:lvl7pPr>
            <a:lvl8pPr marL="2057400" indent="-228600" algn="l" rtl="0" eaLnBrk="1" latinLnBrk="0" hangingPunct="1">
              <a:spcBef>
                <a:spcPts val="350"/>
              </a:spcBef>
              <a:buClr>
                <a:srgbClr val="EB641B"/>
              </a:buClr>
              <a:buFont typeface="Wingdings 2" panose="05020102010507070707"/>
              <a:buChar char=""/>
              <a:defRPr kumimoji="0" sz="1600" kern="1200">
                <a:solidFill>
                  <a:sysClr val="windowText" lastClr="000000"/>
                </a:solidFill>
                <a:latin typeface="Lucida Sans Unicode" panose="020B0602030504020204" charset="0"/>
                <a:ea typeface="+mn-ea"/>
                <a:cs typeface="+mn-ea"/>
              </a:defRPr>
            </a:lvl8pPr>
            <a:lvl9pPr marL="2286000" indent="-228600" algn="l" rtl="0" eaLnBrk="1" latinLnBrk="0" hangingPunct="1">
              <a:spcBef>
                <a:spcPts val="350"/>
              </a:spcBef>
              <a:buClr>
                <a:srgbClr val="EB641B"/>
              </a:buClr>
              <a:buFont typeface="Wingdings 2" panose="05020102010507070707"/>
              <a:buChar char=""/>
              <a:defRPr kumimoji="0" sz="1600" kern="1200" baseline="0">
                <a:solidFill>
                  <a:sysClr val="windowText" lastClr="000000"/>
                </a:solidFill>
                <a:latin typeface="Lucida Sans Unicode" panose="020B0602030504020204" charset="0"/>
                <a:ea typeface="+mn-ea"/>
                <a:cs typeface="+mn-ea"/>
              </a:defRPr>
            </a:lvl9pPr>
          </a:lstStyle>
          <a:p>
            <a:r>
              <a:rPr lang="en-GB" dirty="0">
                <a:latin typeface="Gill Sans MT" panose="020B0502020104020203" charset="0"/>
                <a:cs typeface="Gill Sans MT" panose="020B0502020104020203" charset="0"/>
              </a:rPr>
              <a:t> </a:t>
            </a:r>
            <a:r>
              <a:rPr lang="en-GB" sz="4400" dirty="0">
                <a:latin typeface="Agency FB" panose="020B0503020202020204" pitchFamily="34" charset="0"/>
                <a:cs typeface="Agency FB" panose="020B0503020202020204" pitchFamily="34" charset="0"/>
              </a:rPr>
              <a:t>Thank You </a:t>
            </a:r>
            <a:r>
              <a:rPr lang="en-GB" sz="4400">
                <a:latin typeface="Agency FB" panose="020B0503020202020204" pitchFamily="34" charset="0"/>
                <a:cs typeface="Agency FB" panose="020B0503020202020204" pitchFamily="34" charset="0"/>
              </a:rPr>
              <a:t>For Listening</a:t>
            </a:r>
            <a:endParaRPr lang="en-GB" sz="4400" dirty="0">
              <a:latin typeface="Agency FB" panose="020B0503020202020204" pitchFamily="34" charset="0"/>
              <a:cs typeface="Agency FB" panose="020B0503020202020204" pitchFamily="34" charset="0"/>
            </a:endParaRPr>
          </a:p>
        </p:txBody>
      </p:sp>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6992</TotalTime>
  <Words>1758</Words>
  <Application>Microsoft Office PowerPoint</Application>
  <PresentationFormat>Widescreen</PresentationFormat>
  <Paragraphs>127</Paragraphs>
  <Slides>29</Slides>
  <Notes>29</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Retrospect</vt:lpstr>
      <vt:lpstr>Entrepreneurial  Marketing</vt:lpstr>
      <vt:lpstr>Introduction</vt:lpstr>
      <vt:lpstr>Introduction cont’d</vt:lpstr>
      <vt:lpstr>Definitions</vt:lpstr>
      <vt:lpstr>Core Marketing Concepts</vt:lpstr>
      <vt:lpstr>Major Societal Forces Driving Entrepreneurial Marketing</vt:lpstr>
      <vt:lpstr>  Major Societal Forces Driving Entrepreneurial Marketing Cont’d</vt:lpstr>
      <vt:lpstr>New Consumer Capabilities</vt:lpstr>
      <vt:lpstr>Major concepts in Marketing</vt:lpstr>
      <vt:lpstr>     Why Marketing is Critical for Entrepreneur</vt:lpstr>
      <vt:lpstr>Entrepreneurs Face Unique Marketing Challenges</vt:lpstr>
      <vt:lpstr>Entrepreneurs Face Unique Marketing Challenges </vt:lpstr>
      <vt:lpstr>Entrepreneurs Face Unique Marketing Challenges Cont’d</vt:lpstr>
      <vt:lpstr>Marketing Strategy for Entrepreneurs </vt:lpstr>
      <vt:lpstr>Entrepreneurs Face Unique Marketing Challenges</vt:lpstr>
      <vt:lpstr>Guerrilla marketing </vt:lpstr>
      <vt:lpstr>Guerrilla marketing </vt:lpstr>
      <vt:lpstr>TYPES OF GUERRILLA MARKETING </vt:lpstr>
      <vt:lpstr>Marketing Skills Needed by Entrepreneurs for Managing Growth</vt:lpstr>
      <vt:lpstr>Understanding and Listening to the Customer</vt:lpstr>
      <vt:lpstr>Understanding and Listening to the Customer cont’d</vt:lpstr>
      <vt:lpstr>Building the Brand </vt:lpstr>
      <vt:lpstr>Brand Equity</vt:lpstr>
      <vt:lpstr>Brand Equity </vt:lpstr>
      <vt:lpstr>Brand Equity </vt:lpstr>
      <vt:lpstr> E- Commerce Marketing Practices</vt:lpstr>
      <vt:lpstr>PowerPoint Presentation</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Entrepreneurial  Marketing</dc:title>
  <dc:creator>user</dc:creator>
  <cp:lastModifiedBy>samuel jackson</cp:lastModifiedBy>
  <cp:revision>20</cp:revision>
  <cp:lastPrinted>2026-05-09T15:32:50Z</cp:lastPrinted>
  <dcterms:created xsi:type="dcterms:W3CDTF">2022-05-24T12:40:00Z</dcterms:created>
  <dcterms:modified xsi:type="dcterms:W3CDTF">2026-06-03T15:04:43Z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44B8DAF018084C0AA3D049BA638E7F0B</vt:lpwstr>
  </property>
  <property fmtid="{D5CDD505-2E9C-101B-9397-08002B2CF9AE}" pid="3" name="KSOProductBuildVer">
    <vt:lpwstr>2057-11.2.0.11130</vt:lpwstr>
  </property>
</Properties>
</file>